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378" y="846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4F3D5-4E5C-45E8-B405-90DDBD9BBB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53004-32D5-4C5A-8DE8-CCFF89CEBA8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131b8b1c-d414-4c84-9282-9fe2d2e8b5e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8441" y="841695"/>
            <a:ext cx="5479709" cy="6082979"/>
          </a:xfrm>
          <a:prstGeom prst="rect">
            <a:avLst/>
          </a:prstGeom>
        </p:spPr>
      </p:pic>
      <p:sp>
        <p:nvSpPr>
          <p:cNvPr id="2" name="标题 1" descr="b902cbd1-06fa-41b2-bfc5-7e172edde6ce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5728041" cy="221711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 descr="2b02a38d-0bfa-428c-a521-75498683cc53"/>
          <p:cNvSpPr>
            <a:spLocks noGrp="1"/>
          </p:cNvSpPr>
          <p:nvPr>
            <p:ph type="subTitle" idx="1" hasCustomPrompt="1"/>
          </p:nvPr>
        </p:nvSpPr>
        <p:spPr>
          <a:xfrm>
            <a:off x="660401" y="3510582"/>
            <a:ext cx="4076700" cy="731217"/>
          </a:xfrm>
          <a:prstGeom prst="roundRect">
            <a:avLst>
              <a:gd name="adj" fmla="val 50000"/>
            </a:avLst>
          </a:prstGeom>
          <a:ln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 descr="f91f9e17-33e6-49f6-9c6e-daf15d5700fe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5460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9a640b98-24ae-4b12-8852-71a486a63365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d896aa43-0c0f-4b3b-81a7-8ccad8f4aaaa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 descr="5f3e843d-98b2-4ca2-b432-8dced6c7c464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3d644299-e22e-4967-9ee6-623d056a1f2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d09860ee-fb4f-4b28-8f6d-6a1cfda31f4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b401e7dc-4f45-4544-9049-954ca6ea449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ec891d79-704c-4e50-b2c4-b3654616178e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 descr="38e6e6f3-4189-49be-9a23-ba247fec33a4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ceeb83a7-165e-4b5b-9d99-a011af8ec31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28762ac6-daac-49df-a704-070780d4379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05a3f0a2-2a87-451e-bc8a-7b1f8db88d9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 descr="fee06caa-07c5-4b2f-8574-738b66354d1d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58c9b808-b690-4e88-ae3f-452cd5d0667a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3e329ce-091d-44b2-8737-a6e288a10bc4"/>
          <p:cNvSpPr>
            <a:spLocks noGrp="1"/>
          </p:cNvSpPr>
          <p:nvPr>
            <p:ph type="title" hasCustomPrompt="1"/>
          </p:nvPr>
        </p:nvSpPr>
        <p:spPr>
          <a:xfrm>
            <a:off x="3371850" y="2282717"/>
            <a:ext cx="5435600" cy="120427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 descr="e0d58142-c9d1-4304-90e0-38f531746459"/>
          <p:cNvSpPr>
            <a:spLocks noGrp="1"/>
          </p:cNvSpPr>
          <p:nvPr>
            <p:ph type="body" idx="1" hasCustomPrompt="1"/>
          </p:nvPr>
        </p:nvSpPr>
        <p:spPr>
          <a:xfrm>
            <a:off x="3371850" y="3492500"/>
            <a:ext cx="5435600" cy="2117468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 descr="e0633c59-aeb8-4a6b-8bbc-a7a0a0aa6ad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a27c0138-5d58-440e-a642-ff2fdc0ed7e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681f8f55-c962-47f4-bc18-16303ec9059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pic>
        <p:nvPicPr>
          <p:cNvPr id="7" name="图形 6" descr="8e89e93e-3247-4166-becb-0a021b5885b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4613" y="1248032"/>
            <a:ext cx="4422775" cy="103468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 descr="54fcc4bf-ab30-42a8-8d04-ca375c0db38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a70a5cff-5541-4401-a573-5989aabe2df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1de56baf-85db-4401-9814-57a38b087fe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06268884-a89e-44ff-bc8d-60e995005c3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49e8019e-c484-40e1-983e-837dd3b5a08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1d18aa67-4aae-4f59-9b0d-627cc8ff37e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1ca75b6b-95f9-4047-8e6d-6e14d24d25b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8441" y="841695"/>
            <a:ext cx="5479709" cy="6082979"/>
          </a:xfrm>
          <a:prstGeom prst="rect">
            <a:avLst/>
          </a:prstGeom>
        </p:spPr>
      </p:pic>
      <p:sp>
        <p:nvSpPr>
          <p:cNvPr id="2" name="标题 1" descr="9fd783f1-a84a-4d0d-a428-c25604795c8f"/>
          <p:cNvSpPr>
            <a:spLocks noGrp="1"/>
          </p:cNvSpPr>
          <p:nvPr>
            <p:ph type="title" hasCustomPrompt="1"/>
          </p:nvPr>
        </p:nvSpPr>
        <p:spPr>
          <a:xfrm>
            <a:off x="660400" y="2336800"/>
            <a:ext cx="5479709" cy="1371600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 descr="5abdba75-b7f2-4f40-8f05-bd16f31b5238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5460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27b85a07-f8d8-4e54-90a1-2fd67c2b63cf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902cbd1-06fa-41b2-bfc5-7e172edde6ce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latin typeface="Arial" panose="020B0604020202020204"/>
              </a:rPr>
              <a:t>Office教程</a:t>
            </a:r>
            <a:endParaRPr lang="en-US" sz="4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副标题 2" descr="2b02a38d-0bfa-428c-a521-75498683cc53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400" b="0" i="0" u="none">
                <a:solidFill>
                  <a:srgbClr val="000000"/>
                </a:solidFill>
                <a:ea typeface="微软雅黑"/>
              </a:rPr>
              <a:t>掌握高效办公技能，提升工作效率</a:t>
            </a:r>
            <a:endParaRPr lang="en-US" sz="2400" b="0" i="0" u="none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4" name="文本占位符 3" descr="f91f9e17-33e6-49f6-9c6e-daf15d5700fe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>
            <a:normAutofit lnSpcReduction="20000"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endParaRPr lang="en-US" sz="1110" b="0" i="0" u="none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5" name="文本占位符 4" descr="9a640b98-24ae-4b12-8852-71a486a63365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>
            <a:normAutofit fontScale="90000" lnSpcReduction="20000"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</a:t>
            </a:r>
            <a:r>
              <a:rPr lang="en-US" altLang="zh-CN">
                <a:latin typeface="微软雅黑"/>
                <a:cs typeface="Arial" panose="020B0604020202020204" pitchFamily="34" charset="0"/>
              </a:rPr>
              <a:t>25.1.5</a:t>
            </a:r>
            <a:endParaRPr lang="en-US">
              <a:latin typeface="微软雅黑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2448151f-221a-4428-8df5-178eb7ef3307.source.3.zh-Hans.pptx" descr="16ce8e78-5239-4c41-9d99-9497ca1378c8"/>
          <p:cNvGrpSpPr/>
          <p:nvPr/>
        </p:nvGrpSpPr>
        <p:grpSpPr>
          <a:xfrm>
            <a:off x="660399" y="1"/>
            <a:ext cx="11531602" cy="6857999"/>
            <a:chOff x="660399" y="1"/>
            <a:chExt cx="11531602" cy="6857999"/>
          </a:xfrm>
        </p:grpSpPr>
        <p:sp>
          <p:nvSpPr>
            <p:cNvPr id="9" name="Title" descr="c5129453-8b5c-4325-b231-221c3a89c92c"/>
            <p:cNvSpPr/>
            <p:nvPr/>
          </p:nvSpPr>
          <p:spPr>
            <a:xfrm>
              <a:off x="660399" y="1130298"/>
              <a:ext cx="7502129" cy="872673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/>
              <a:endParaRPr lang="en-US" sz="4400" b="1" i="0" u="none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4" name="组合 3" descr="6e320eff-5741-4361-bd83-90282e3c34df"/>
            <p:cNvGrpSpPr/>
            <p:nvPr/>
          </p:nvGrpSpPr>
          <p:grpSpPr>
            <a:xfrm>
              <a:off x="660400" y="1"/>
              <a:ext cx="11531601" cy="6857999"/>
              <a:chOff x="660400" y="1"/>
              <a:chExt cx="11531601" cy="6857999"/>
            </a:xfrm>
          </p:grpSpPr>
          <p:sp>
            <p:nvSpPr>
              <p:cNvPr id="72" name="PictureMisc1" descr="8c9153f8-a8fd-4afb-b28f-bd238509db8e"/>
              <p:cNvSpPr/>
              <p:nvPr/>
            </p:nvSpPr>
            <p:spPr>
              <a:xfrm>
                <a:off x="8648701" y="1"/>
                <a:ext cx="3543300" cy="6857999"/>
              </a:xfrm>
              <a:prstGeom prst="rect">
                <a:avLst/>
              </a:prstGeom>
              <a:blipFill rotWithShape="1"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/>
                <a:stretch>
                  <a:fillRect l="-152605" r="-37719"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8" name="ComponentBackground1" descr="580dd5b4-adab-435c-b6bb-b0135d0c9008"/>
              <p:cNvSpPr/>
              <p:nvPr/>
            </p:nvSpPr>
            <p:spPr>
              <a:xfrm>
                <a:off x="929571" y="2193853"/>
                <a:ext cx="7215675" cy="1186161"/>
              </a:xfrm>
              <a:prstGeom prst="roundRect">
                <a:avLst>
                  <a:gd name="adj" fmla="val 5209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77" name="Bullet1" descr="ac73cec5-f414-4948-86ec-38e18b89e00e"/>
              <p:cNvSpPr txBox="1"/>
              <p:nvPr/>
            </p:nvSpPr>
            <p:spPr>
              <a:xfrm>
                <a:off x="1240018" y="2246355"/>
                <a:ext cx="6760982" cy="10811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Office基础入门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79" name="Number1" descr="20051621-e177-4dfc-aff7-cf2e1082bf2f"/>
              <p:cNvSpPr/>
              <p:nvPr/>
            </p:nvSpPr>
            <p:spPr>
              <a:xfrm>
                <a:off x="660400" y="2522333"/>
                <a:ext cx="529200" cy="52920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5" name="组合 4" descr="863d9b83-5aaf-454b-8c8d-4fd2339342ca"/>
            <p:cNvGrpSpPr/>
            <p:nvPr/>
          </p:nvGrpSpPr>
          <p:grpSpPr>
            <a:xfrm>
              <a:off x="660400" y="3570896"/>
              <a:ext cx="7484846" cy="1186161"/>
              <a:chOff x="660400" y="3570896"/>
              <a:chExt cx="7484846" cy="1186161"/>
            </a:xfrm>
          </p:grpSpPr>
          <p:sp>
            <p:nvSpPr>
              <p:cNvPr id="118" name="ComponentBackground2" descr="f1f3bfbe-753f-4f3f-b251-6923b383b6c8"/>
              <p:cNvSpPr/>
              <p:nvPr/>
            </p:nvSpPr>
            <p:spPr>
              <a:xfrm>
                <a:off x="929571" y="3570896"/>
                <a:ext cx="7215675" cy="1186161"/>
              </a:xfrm>
              <a:prstGeom prst="roundRect">
                <a:avLst>
                  <a:gd name="adj" fmla="val 5209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17" name="Bullet2" descr="b99a43ae-2b84-40b6-833f-77b3ef42d207"/>
              <p:cNvSpPr txBox="1"/>
              <p:nvPr/>
            </p:nvSpPr>
            <p:spPr>
              <a:xfrm>
                <a:off x="1240018" y="3623398"/>
                <a:ext cx="6760982" cy="10811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常用功能操作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119" name="Number2" descr="e391a676-858c-44b3-94f8-0503fb32c1e9"/>
              <p:cNvSpPr/>
              <p:nvPr/>
            </p:nvSpPr>
            <p:spPr>
              <a:xfrm>
                <a:off x="660400" y="3899376"/>
                <a:ext cx="529200" cy="52920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6" name="组合 5" descr="f986cebf-b4fc-46d0-a9c5-9bfbe385aac3"/>
            <p:cNvGrpSpPr/>
            <p:nvPr/>
          </p:nvGrpSpPr>
          <p:grpSpPr>
            <a:xfrm>
              <a:off x="660400" y="4947939"/>
              <a:ext cx="7484846" cy="1186161"/>
              <a:chOff x="660400" y="4947939"/>
              <a:chExt cx="7484846" cy="1186161"/>
            </a:xfrm>
          </p:grpSpPr>
          <p:sp>
            <p:nvSpPr>
              <p:cNvPr id="122" name="ComponentBackground3" descr="9417d94c-9d9f-4993-99d0-1bdc158ad0b9"/>
              <p:cNvSpPr/>
              <p:nvPr/>
            </p:nvSpPr>
            <p:spPr>
              <a:xfrm>
                <a:off x="929571" y="4947939"/>
                <a:ext cx="7215675" cy="1186161"/>
              </a:xfrm>
              <a:prstGeom prst="roundRect">
                <a:avLst>
                  <a:gd name="adj" fmla="val 5209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21" name="Bullet3" descr="00cd88f6-03d3-43cf-a944-7eb881db021c"/>
              <p:cNvSpPr txBox="1"/>
              <p:nvPr/>
            </p:nvSpPr>
            <p:spPr>
              <a:xfrm>
                <a:off x="1240018" y="5000441"/>
                <a:ext cx="6760982" cy="10811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实用技巧与案例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123" name="Number3" descr="885b9c02-c7d9-4f9f-821f-1964b7eb79b5"/>
              <p:cNvSpPr/>
              <p:nvPr/>
            </p:nvSpPr>
            <p:spPr>
              <a:xfrm>
                <a:off x="660400" y="5276419"/>
                <a:ext cx="529200" cy="529200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目录</a:t>
            </a:r>
            <a:endParaRPr lang="en-US" sz="2800" b="1" i="0" u="none">
              <a:solidFill>
                <a:srgbClr val="000000"/>
              </a:solidFill>
              <a:ea typeface="微软雅黑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3e329ce-091d-44b2-8737-a6e288a10bc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latin typeface="Arial" panose="020B0604020202020204"/>
              </a:rPr>
              <a:t>Office基础入门</a:t>
            </a:r>
            <a:endParaRPr lang="en-US" sz="36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文本占位符 2" descr="e0d58142-c9d1-4304-90e0-38f531746459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了解Office软件的基本功能与操作界面</a:t>
            </a:r>
            <a:endParaRPr lang="en-US" sz="1600" b="0" i="0" u="none">
              <a:solidFill>
                <a:srgbClr val="000000"/>
              </a:solidFill>
              <a:ea typeface="微软雅黑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2b194fd9-beca-4084-a7ad-e1bde95d0479.source.4.zh-Hans.pptx" descr="ad37a137-81d9-4f6a-9e37-db023fa35fbe"/>
          <p:cNvGrpSpPr/>
          <p:nvPr/>
        </p:nvGrpSpPr>
        <p:grpSpPr>
          <a:xfrm>
            <a:off x="660399" y="1243979"/>
            <a:ext cx="10858500" cy="4370041"/>
            <a:chOff x="660399" y="1243979"/>
            <a:chExt cx="10858500" cy="4370041"/>
          </a:xfrm>
        </p:grpSpPr>
        <p:grpSp>
          <p:nvGrpSpPr>
            <p:cNvPr id="3" name="组合 2" descr="653605d6-0615-4a20-9cc1-d315777a0dce"/>
            <p:cNvGrpSpPr/>
            <p:nvPr/>
          </p:nvGrpSpPr>
          <p:grpSpPr>
            <a:xfrm>
              <a:off x="660399" y="2200108"/>
              <a:ext cx="10858500" cy="3413912"/>
              <a:chOff x="732759" y="2200108"/>
              <a:chExt cx="8607369" cy="3413912"/>
            </a:xfrm>
          </p:grpSpPr>
          <p:grpSp>
            <p:nvGrpSpPr>
              <p:cNvPr id="42" name="组合 41" descr="5d6a86d1-b1d4-4f6f-93c7-1862262530c6"/>
              <p:cNvGrpSpPr>
                <a:grpSpLocks noChangeAspect="1"/>
              </p:cNvGrpSpPr>
              <p:nvPr/>
            </p:nvGrpSpPr>
            <p:grpSpPr>
              <a:xfrm>
                <a:off x="732759" y="2200108"/>
                <a:ext cx="2073146" cy="3413912"/>
                <a:chOff x="4763055" y="549649"/>
                <a:chExt cx="2574332" cy="4239230"/>
              </a:xfrm>
            </p:grpSpPr>
            <p:sp>
              <p:nvSpPr>
                <p:cNvPr id="43" name="矩形: 圆顶角 1" descr="3aa42509-661d-475f-b1d0-abe9f7956f61"/>
                <p:cNvSpPr/>
                <p:nvPr/>
              </p:nvSpPr>
              <p:spPr>
                <a:xfrm>
                  <a:off x="4841905" y="549649"/>
                  <a:ext cx="2495482" cy="4239230"/>
                </a:xfrm>
                <a:prstGeom prst="flowChartOffpageConnector">
                  <a:avLst/>
                </a:prstGeom>
                <a:solidFill>
                  <a:schemeClr val="accent1">
                    <a:alpha val="20000"/>
                  </a:schemeClr>
                </a:solidFill>
                <a:ln w="12700">
                  <a:noFill/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0">
                  <a:noAutofit/>
                </a:bodyPr>
                <a:lstStyle/>
                <a:p>
                  <a:pPr algn="l"/>
                </a:p>
              </p:txBody>
            </p:sp>
            <p:sp>
              <p:nvSpPr>
                <p:cNvPr id="44" name="Bullet1" descr="09d6ac60-82d7-4336-9bb8-73a8b25ebdf4"/>
                <p:cNvSpPr txBox="1"/>
                <p:nvPr/>
              </p:nvSpPr>
              <p:spPr>
                <a:xfrm>
                  <a:off x="4962201" y="1862929"/>
                  <a:ext cx="2254896" cy="10044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latin typeface="Arial" panose="020B0604020202020204"/>
                    </a:rPr>
                    <a:t>Office软件包含</a:t>
                  </a:r>
                  <a:endParaRPr lang="en-US" sz="1800" b="1" i="0" u="none" strike="noStrik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45" name="Text1" descr="c4ec08be-e153-4c10-95b4-c8ca18b8216f"/>
                <p:cNvSpPr txBox="1"/>
                <p:nvPr/>
              </p:nvSpPr>
              <p:spPr>
                <a:xfrm>
                  <a:off x="4962204" y="2975578"/>
                  <a:ext cx="2254897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latin typeface="Arial" panose="020B0604020202020204"/>
                    </a:rPr>
                    <a:t>Office软件通常包含Word、Excel、PowerPoint等，它们分别用于文档编辑、数据处理和演示制作。</a:t>
                  </a:r>
                  <a:endParaRPr lang="en-US" sz="1200" b="0" i="0" u="none" strike="noStrik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46" name="Number1" descr="de18fb31-aea5-4309-936b-57619af858b1"/>
                <p:cNvSpPr/>
                <p:nvPr/>
              </p:nvSpPr>
              <p:spPr>
                <a:xfrm>
                  <a:off x="4763055" y="759322"/>
                  <a:ext cx="2254901" cy="710913"/>
                </a:xfrm>
                <a:prstGeom prst="homePlate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rmAutofit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01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49" name="组合 7" descr="5a129511-6ece-400a-a100-2849c9d20f24"/>
              <p:cNvGrpSpPr>
                <a:grpSpLocks noChangeAspect="1"/>
              </p:cNvGrpSpPr>
              <p:nvPr/>
            </p:nvGrpSpPr>
            <p:grpSpPr>
              <a:xfrm>
                <a:off x="2896078" y="2200108"/>
                <a:ext cx="2088597" cy="3413912"/>
                <a:chOff x="4743868" y="549649"/>
                <a:chExt cx="2593519" cy="4239230"/>
              </a:xfrm>
            </p:grpSpPr>
            <p:sp>
              <p:nvSpPr>
                <p:cNvPr id="50" name="矩形: 圆顶角 1" descr="c1c92c71-a6c0-4e34-82ea-8dfdd6466d10"/>
                <p:cNvSpPr/>
                <p:nvPr/>
              </p:nvSpPr>
              <p:spPr>
                <a:xfrm>
                  <a:off x="4841905" y="549649"/>
                  <a:ext cx="2495482" cy="4239230"/>
                </a:xfrm>
                <a:prstGeom prst="flowChartOffpageConnector">
                  <a:avLst/>
                </a:prstGeom>
                <a:solidFill>
                  <a:schemeClr val="accent2">
                    <a:alpha val="20000"/>
                  </a:schemeClr>
                </a:solidFill>
                <a:ln w="12700">
                  <a:noFill/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0">
                  <a:noAutofit/>
                </a:bodyPr>
                <a:lstStyle/>
                <a:p>
                  <a:pPr algn="l"/>
                </a:p>
              </p:txBody>
            </p:sp>
            <p:sp>
              <p:nvSpPr>
                <p:cNvPr id="51" name="Bullet2" descr="6905b94c-97b8-442c-9f64-a11f7fa5f706"/>
                <p:cNvSpPr txBox="1"/>
                <p:nvPr/>
              </p:nvSpPr>
              <p:spPr>
                <a:xfrm>
                  <a:off x="4962204" y="1862929"/>
                  <a:ext cx="2254897" cy="10044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/>
                    </a:rPr>
                    <a:t>主要功能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/>
                  </a:endParaRPr>
                </a:p>
              </p:txBody>
            </p:sp>
            <p:sp>
              <p:nvSpPr>
                <p:cNvPr id="52" name="Text2" descr="84f26a38-7560-47d8-a00a-5acead1f4228"/>
                <p:cNvSpPr txBox="1"/>
                <p:nvPr/>
              </p:nvSpPr>
              <p:spPr>
                <a:xfrm>
                  <a:off x="4962204" y="2975578"/>
                  <a:ext cx="2254897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latin typeface="Arial" panose="020B0604020202020204"/>
                    </a:rPr>
                    <a:t>Word可进行文字排版、文档编辑，Excel能进行数据分析、图表制作，PowerPoint可制作幻灯片展示。</a:t>
                  </a:r>
                  <a:endParaRPr lang="en-US" sz="1200" b="0" i="0" u="none" strike="noStrik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53" name="Number2" descr="c2d63700-8f16-41ec-b05c-0aa72f0bc9be"/>
                <p:cNvSpPr/>
                <p:nvPr/>
              </p:nvSpPr>
              <p:spPr>
                <a:xfrm>
                  <a:off x="4743868" y="759322"/>
                  <a:ext cx="2254900" cy="710913"/>
                </a:xfrm>
                <a:prstGeom prst="homePlate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rmAutofit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02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56" name="组合 7" descr="fcd633c5-9a07-408c-92d7-700dd8e54b13"/>
              <p:cNvGrpSpPr>
                <a:grpSpLocks noChangeAspect="1"/>
              </p:cNvGrpSpPr>
              <p:nvPr/>
            </p:nvGrpSpPr>
            <p:grpSpPr>
              <a:xfrm>
                <a:off x="5074850" y="2200108"/>
                <a:ext cx="2088597" cy="3413912"/>
                <a:chOff x="4743868" y="549651"/>
                <a:chExt cx="2593519" cy="4239230"/>
              </a:xfrm>
            </p:grpSpPr>
            <p:sp>
              <p:nvSpPr>
                <p:cNvPr id="57" name="矩形: 圆顶角 1" descr="cbcd88fa-157b-4fc8-a670-bda5a6994b11"/>
                <p:cNvSpPr/>
                <p:nvPr/>
              </p:nvSpPr>
              <p:spPr>
                <a:xfrm>
                  <a:off x="4841905" y="549651"/>
                  <a:ext cx="2495482" cy="4239230"/>
                </a:xfrm>
                <a:prstGeom prst="flowChartOffpageConnector">
                  <a:avLst/>
                </a:prstGeom>
                <a:solidFill>
                  <a:schemeClr val="accent3">
                    <a:alpha val="20000"/>
                  </a:schemeClr>
                </a:solidFill>
                <a:ln w="12700">
                  <a:noFill/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0">
                  <a:noAutofit/>
                </a:bodyPr>
                <a:lstStyle/>
                <a:p>
                  <a:pPr algn="l"/>
                </a:p>
              </p:txBody>
            </p:sp>
            <p:sp>
              <p:nvSpPr>
                <p:cNvPr id="58" name="Bullet3" descr="ff4a698c-d64a-4b44-afd7-aad0389abb64"/>
                <p:cNvSpPr txBox="1"/>
                <p:nvPr/>
              </p:nvSpPr>
              <p:spPr>
                <a:xfrm>
                  <a:off x="4962204" y="1862929"/>
                  <a:ext cx="2254897" cy="10044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/>
                    </a:rPr>
                    <a:t>适用场景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/>
                  </a:endParaRPr>
                </a:p>
              </p:txBody>
            </p:sp>
            <p:sp>
              <p:nvSpPr>
                <p:cNvPr id="59" name="Text3" descr="30afd448-9185-41c8-a118-9f9e497d003b"/>
                <p:cNvSpPr txBox="1"/>
                <p:nvPr/>
              </p:nvSpPr>
              <p:spPr>
                <a:xfrm>
                  <a:off x="4962204" y="2975578"/>
                  <a:ext cx="2254897" cy="14876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latin typeface="Arial" panose="020B0604020202020204"/>
                    </a:rPr>
                    <a:t>Word适用于写报告、论文等文档，Excel常用于财务分析、数据统计，PowerPoint用于演讲、展示成果。</a:t>
                  </a:r>
                  <a:endParaRPr lang="en-US" sz="1200" b="0" i="0" u="none" strike="noStrik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60" name="Number3" descr="960ae2bb-b8ec-4cbe-9053-8b3e6d91dae0"/>
                <p:cNvSpPr/>
                <p:nvPr/>
              </p:nvSpPr>
              <p:spPr>
                <a:xfrm>
                  <a:off x="4743868" y="759322"/>
                  <a:ext cx="2254900" cy="710913"/>
                </a:xfrm>
                <a:prstGeom prst="homePlate">
                  <a:avLst/>
                </a:prstGeom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75000">
                      <a:schemeClr val="accent3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3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rmAutofit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03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35" name="组合 7" descr="803bbd1e-31d8-4bb6-91ad-1a2b35a006e2"/>
              <p:cNvGrpSpPr>
                <a:grpSpLocks noChangeAspect="1"/>
              </p:cNvGrpSpPr>
              <p:nvPr/>
            </p:nvGrpSpPr>
            <p:grpSpPr>
              <a:xfrm>
                <a:off x="7253620" y="2200111"/>
                <a:ext cx="2086508" cy="3413909"/>
                <a:chOff x="4746462" y="549649"/>
                <a:chExt cx="2590925" cy="4239229"/>
              </a:xfrm>
            </p:grpSpPr>
            <p:sp>
              <p:nvSpPr>
                <p:cNvPr id="36" name="矩形: 圆顶角 39" descr="0d4eed3a-641d-4e19-bfa3-140d059baa4b"/>
                <p:cNvSpPr/>
                <p:nvPr/>
              </p:nvSpPr>
              <p:spPr>
                <a:xfrm>
                  <a:off x="4841905" y="549649"/>
                  <a:ext cx="2495482" cy="4239229"/>
                </a:xfrm>
                <a:prstGeom prst="flowChartOffpageConnector">
                  <a:avLst/>
                </a:prstGeom>
                <a:solidFill>
                  <a:schemeClr val="accent4">
                    <a:alpha val="20000"/>
                  </a:schemeClr>
                </a:solidFill>
                <a:ln w="12700">
                  <a:noFill/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</a:p>
              </p:txBody>
            </p:sp>
            <p:sp>
              <p:nvSpPr>
                <p:cNvPr id="37" name="Bullet4" descr="be0d1893-dac8-416d-8c7d-9c2c5d3e4e87"/>
                <p:cNvSpPr txBox="1"/>
                <p:nvPr/>
              </p:nvSpPr>
              <p:spPr>
                <a:xfrm>
                  <a:off x="4962204" y="1862929"/>
                  <a:ext cx="2254897" cy="10044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/>
                    </a:rPr>
                    <a:t>版本更新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/>
                  </a:endParaRPr>
                </a:p>
              </p:txBody>
            </p:sp>
            <p:sp>
              <p:nvSpPr>
                <p:cNvPr id="38" name="Text4" descr="06ee626b-978f-4539-8d83-d349a3805439"/>
                <p:cNvSpPr txBox="1"/>
                <p:nvPr/>
              </p:nvSpPr>
              <p:spPr>
                <a:xfrm>
                  <a:off x="4962204" y="2975579"/>
                  <a:ext cx="2254897" cy="14876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latin typeface="Arial" panose="020B0604020202020204"/>
                    </a:rPr>
                    <a:t>Office软件不断更新版本，新版本会增加新功能、优化操作体验，如增加云协作、智能推荐等功能。</a:t>
                  </a:r>
                  <a:endParaRPr lang="en-US" sz="1200" b="0" i="0" u="none" strike="noStrik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39" name="Number4" descr="1b807aae-97ab-4636-b2eb-4039091256c9"/>
                <p:cNvSpPr/>
                <p:nvPr/>
              </p:nvSpPr>
              <p:spPr>
                <a:xfrm>
                  <a:off x="4746462" y="759318"/>
                  <a:ext cx="2249713" cy="710912"/>
                </a:xfrm>
                <a:prstGeom prst="homePlate">
                  <a:avLst/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75000">
                      <a:schemeClr val="accent4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4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04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</p:grpSp>
        <p:sp>
          <p:nvSpPr>
            <p:cNvPr id="83" name="Title" descr="4cfa65dc-a8cf-44f4-a566-95e4c3dc7e46"/>
            <p:cNvSpPr>
              <a:spLocks noChangeAspect="1"/>
            </p:cNvSpPr>
            <p:nvPr/>
          </p:nvSpPr>
          <p:spPr>
            <a:xfrm>
              <a:off x="660399" y="1243979"/>
              <a:ext cx="10858500" cy="693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认识常用的Office软件</a:t>
              </a:r>
              <a:endParaRPr lang="en-US" sz="2400" b="1" i="0" u="none">
                <a:solidFill>
                  <a:srgbClr val="000000"/>
                </a:solidFill>
                <a:ea typeface="微软雅黑"/>
              </a:endParaRPr>
            </a:p>
          </p:txBody>
        </p: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Office软件介绍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ff1d47ca-87d9-4801-885e-f78795f983c1.source.5.zh-Hans.pptx" descr="8d493548-d87d-4a83-a524-089e48a46c66"/>
          <p:cNvGrpSpPr/>
          <p:nvPr/>
        </p:nvGrpSpPr>
        <p:grpSpPr>
          <a:xfrm>
            <a:off x="660400" y="1130300"/>
            <a:ext cx="10858500" cy="4773977"/>
            <a:chOff x="660400" y="1130300"/>
            <a:chExt cx="10858500" cy="4773977"/>
          </a:xfrm>
        </p:grpSpPr>
        <p:sp>
          <p:nvSpPr>
            <p:cNvPr id="5" name="Title" descr="4f584bc5-57e3-4d8e-88f0-cba92294b19b"/>
            <p:cNvSpPr txBox="1"/>
            <p:nvPr/>
          </p:nvSpPr>
          <p:spPr>
            <a:xfrm>
              <a:off x="660400" y="1130300"/>
              <a:ext cx="10858500" cy="802051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熟悉Office软件的操作界面</a:t>
              </a:r>
              <a:endParaRPr lang="en-US" sz="2400" b="1" i="0" u="none">
                <a:solidFill>
                  <a:srgbClr val="000000"/>
                </a:solidFill>
                <a:ea typeface="微软雅黑"/>
              </a:endParaRPr>
            </a:p>
          </p:txBody>
        </p:sp>
        <p:grpSp>
          <p:nvGrpSpPr>
            <p:cNvPr id="26" name="组合 25" descr="e46cc78c-0e8f-4496-97ff-bfaf1e0a2667"/>
            <p:cNvGrpSpPr/>
            <p:nvPr/>
          </p:nvGrpSpPr>
          <p:grpSpPr>
            <a:xfrm>
              <a:off x="810236" y="2359036"/>
              <a:ext cx="1984591" cy="3545241"/>
              <a:chOff x="810236" y="2359036"/>
              <a:chExt cx="1984591" cy="3545241"/>
            </a:xfrm>
          </p:grpSpPr>
          <p:sp>
            <p:nvSpPr>
              <p:cNvPr id="7" name="Bullet1" descr="2ae9a715-303a-4798-9461-5f8aa1a9f8f1"/>
              <p:cNvSpPr/>
              <p:nvPr/>
            </p:nvSpPr>
            <p:spPr>
              <a:xfrm>
                <a:off x="810236" y="4498965"/>
                <a:ext cx="1833317" cy="661334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0000" tIns="180000" rIns="180000" bIns="90000" numCol="1" spcCol="1270" anchor="b" anchorCtr="0">
                <a:normAutofit fontScale="77500" lnSpcReduction="20000"/>
              </a:bodyPr>
              <a:lstStyle/>
              <a:p>
                <a:pPr algn="l"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菜单栏</a:t>
                </a:r>
                <a:endParaRPr lang="en-US" sz="1800" b="1" i="0" u="none">
                  <a:solidFill>
                    <a:srgbClr val="FFFFFF"/>
                  </a:solidFill>
                  <a:ea typeface="微软雅黑"/>
                </a:endParaRPr>
              </a:p>
            </p:txBody>
          </p:sp>
          <p:sp>
            <p:nvSpPr>
              <p:cNvPr id="6" name="ComponentBackground1" descr="f3a74a20-04aa-4404-a691-d82ff6274ba7"/>
              <p:cNvSpPr/>
              <p:nvPr/>
            </p:nvSpPr>
            <p:spPr>
              <a:xfrm>
                <a:off x="810236" y="2359036"/>
                <a:ext cx="1833317" cy="2292340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Ctr="0"/>
              <a:lstStyle/>
              <a:p>
                <a:pPr algn="l"/>
              </a:p>
            </p:txBody>
          </p:sp>
          <p:sp>
            <p:nvSpPr>
              <p:cNvPr id="8" name="Number1" descr="695969fc-de07-4b85-a98f-4cc2f19cf71c"/>
              <p:cNvSpPr/>
              <p:nvPr/>
            </p:nvSpPr>
            <p:spPr>
              <a:xfrm>
                <a:off x="2153166" y="5262616"/>
                <a:ext cx="641661" cy="641661"/>
              </a:xfrm>
              <a:prstGeom prst="ellipse">
                <a:avLst/>
              </a:prstGeom>
              <a:solidFill>
                <a:schemeClr val="tx2"/>
              </a:solidFill>
              <a:ln w="25400">
                <a:solidFill>
                  <a:srgbClr val="FFFFFF">
                    <a:alpha val="90000"/>
                  </a:srgbClr>
                </a:solidFill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wrap="non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1" name="Text1" descr="055aeb3b-a8d8-4b35-963e-07449ec83289"/>
              <p:cNvSpPr txBox="1"/>
              <p:nvPr/>
            </p:nvSpPr>
            <p:spPr>
              <a:xfrm>
                <a:off x="873815" y="2543591"/>
                <a:ext cx="1706158" cy="20101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菜单栏位于软件上方，包含了各种功能的命令选项，如文件、编辑、视图等，方便用户快速找到所需功能。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</p:grpSp>
        <p:grpSp>
          <p:nvGrpSpPr>
            <p:cNvPr id="27" name="组合 26" descr="fe30891a-686a-427e-91f4-58b6df5c7976"/>
            <p:cNvGrpSpPr/>
            <p:nvPr/>
          </p:nvGrpSpPr>
          <p:grpSpPr>
            <a:xfrm>
              <a:off x="2953795" y="2359036"/>
              <a:ext cx="1984591" cy="3545241"/>
              <a:chOff x="2953795" y="2359036"/>
              <a:chExt cx="1984591" cy="3545241"/>
            </a:xfrm>
          </p:grpSpPr>
          <p:sp>
            <p:nvSpPr>
              <p:cNvPr id="10" name="Bullet2" descr="7a4a2ec4-289b-4ce3-a5a6-303c6eb50f54"/>
              <p:cNvSpPr/>
              <p:nvPr/>
            </p:nvSpPr>
            <p:spPr>
              <a:xfrm>
                <a:off x="2953795" y="4498965"/>
                <a:ext cx="1833317" cy="661334"/>
              </a:xfrm>
              <a:prstGeom prst="roundRect">
                <a:avLst/>
              </a:prstGeom>
              <a:solidFill>
                <a:schemeClr val="accent1">
                  <a:hueOff val="0"/>
                  <a:satOff val="0"/>
                  <a:lumOff val="0"/>
                </a:schemeClr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0000" tIns="180000" rIns="180000" bIns="90000" numCol="1" spcCol="1270" anchor="b" anchorCtr="0">
                <a:normAutofit fontScale="77500" lnSpcReduction="20000"/>
              </a:bodyPr>
              <a:lstStyle/>
              <a:p>
                <a:pPr algn="l"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工具栏</a:t>
                </a:r>
                <a:endParaRPr lang="en-US" sz="1800" b="1" i="0" u="none">
                  <a:solidFill>
                    <a:srgbClr val="FFFFFF"/>
                  </a:solidFill>
                  <a:ea typeface="微软雅黑"/>
                </a:endParaRPr>
              </a:p>
            </p:txBody>
          </p:sp>
          <p:sp>
            <p:nvSpPr>
              <p:cNvPr id="9" name="ComponentBackground2" descr="b00a1e43-0683-4c99-8fc0-c4569dbde905"/>
              <p:cNvSpPr/>
              <p:nvPr/>
            </p:nvSpPr>
            <p:spPr>
              <a:xfrm>
                <a:off x="2953795" y="2359036"/>
                <a:ext cx="1833317" cy="2292340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Ctr="0"/>
              <a:lstStyle/>
              <a:p>
                <a:pPr algn="l"/>
              </a:p>
            </p:txBody>
          </p:sp>
          <p:sp>
            <p:nvSpPr>
              <p:cNvPr id="11" name="Number2" descr="b1a2029f-afcd-4b4d-9945-17cf54757bd5"/>
              <p:cNvSpPr/>
              <p:nvPr/>
            </p:nvSpPr>
            <p:spPr>
              <a:xfrm>
                <a:off x="4296725" y="5262616"/>
                <a:ext cx="641661" cy="641661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rgbClr val="FFFFFF">
                    <a:alpha val="90000"/>
                  </a:srgbClr>
                </a:solidFill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wrap="non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2" name="Text2" descr="3285b952-a787-4f7a-9d9e-8fb550c40b8b"/>
              <p:cNvSpPr txBox="1"/>
              <p:nvPr/>
            </p:nvSpPr>
            <p:spPr>
              <a:xfrm>
                <a:off x="3017374" y="2543591"/>
                <a:ext cx="1706158" cy="20101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工具栏提供了常用功能的快捷按钮，如字体设置、对齐方式等，方便用户快速进行操作。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</p:grpSp>
        <p:grpSp>
          <p:nvGrpSpPr>
            <p:cNvPr id="28" name="组合 27" descr="61366a49-74c3-4f4b-aca0-789cf5564e65"/>
            <p:cNvGrpSpPr/>
            <p:nvPr/>
          </p:nvGrpSpPr>
          <p:grpSpPr>
            <a:xfrm>
              <a:off x="5097354" y="2359036"/>
              <a:ext cx="1984591" cy="3545241"/>
              <a:chOff x="5097354" y="2359036"/>
              <a:chExt cx="1984591" cy="3545241"/>
            </a:xfrm>
          </p:grpSpPr>
          <p:sp>
            <p:nvSpPr>
              <p:cNvPr id="13" name="Bullet3" descr="788af12d-96d2-4899-a8d7-97fd28d9fe7f"/>
              <p:cNvSpPr/>
              <p:nvPr/>
            </p:nvSpPr>
            <p:spPr>
              <a:xfrm>
                <a:off x="5097354" y="4553787"/>
                <a:ext cx="1833317" cy="60651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0000" tIns="180000" rIns="180000" bIns="90000" numCol="1" spcCol="1270" anchor="b" anchorCtr="0">
                <a:normAutofit fontScale="77500" lnSpcReduction="20000"/>
              </a:bodyPr>
              <a:lstStyle/>
              <a:p>
                <a:pPr algn="l"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状态栏</a:t>
                </a:r>
                <a:endParaRPr lang="en-US" sz="1800" b="1" i="0" u="none">
                  <a:solidFill>
                    <a:srgbClr val="FFFFFF"/>
                  </a:solidFill>
                  <a:ea typeface="微软雅黑"/>
                </a:endParaRPr>
              </a:p>
            </p:txBody>
          </p:sp>
          <p:sp>
            <p:nvSpPr>
              <p:cNvPr id="12" name="ComponentBackground3" descr="cde30a57-fa4c-4c38-9ef9-6d30cf412fcf"/>
              <p:cNvSpPr/>
              <p:nvPr/>
            </p:nvSpPr>
            <p:spPr>
              <a:xfrm>
                <a:off x="5097354" y="2359036"/>
                <a:ext cx="1833317" cy="2292340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Ctr="0"/>
              <a:lstStyle/>
              <a:p>
                <a:pPr algn="l"/>
              </a:p>
            </p:txBody>
          </p:sp>
          <p:sp>
            <p:nvSpPr>
              <p:cNvPr id="14" name="Number3" descr="4cc3bfcb-d1dd-45ec-947f-54fb3e2ca9c4"/>
              <p:cNvSpPr/>
              <p:nvPr/>
            </p:nvSpPr>
            <p:spPr>
              <a:xfrm>
                <a:off x="6440284" y="5262616"/>
                <a:ext cx="641661" cy="641661"/>
              </a:xfrm>
              <a:prstGeom prst="ellipse">
                <a:avLst/>
              </a:prstGeom>
              <a:solidFill>
                <a:schemeClr val="tx2"/>
              </a:solidFill>
              <a:ln w="25400">
                <a:solidFill>
                  <a:srgbClr val="FFFFFF">
                    <a:alpha val="90000"/>
                  </a:srgbClr>
                </a:solidFill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wrap="non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3" name="Text3" descr="e7f7b659-9a3d-4556-a813-acce79cc311c"/>
              <p:cNvSpPr txBox="1"/>
              <p:nvPr/>
            </p:nvSpPr>
            <p:spPr>
              <a:xfrm>
                <a:off x="5160933" y="2543591"/>
                <a:ext cx="1706158" cy="20101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状态栏显示当前文档的状态信息，如页码、字数等，让用户了解文档的基本情况。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</p:grpSp>
        <p:grpSp>
          <p:nvGrpSpPr>
            <p:cNvPr id="29" name="组合 28" descr="54567a00-7edd-442d-978f-2d53bd6c46a5"/>
            <p:cNvGrpSpPr/>
            <p:nvPr/>
          </p:nvGrpSpPr>
          <p:grpSpPr>
            <a:xfrm>
              <a:off x="7240913" y="2359036"/>
              <a:ext cx="1984591" cy="3545241"/>
              <a:chOff x="7240913" y="2359036"/>
              <a:chExt cx="1984591" cy="3545241"/>
            </a:xfrm>
          </p:grpSpPr>
          <p:sp>
            <p:nvSpPr>
              <p:cNvPr id="16" name="Bullet4" descr="7b66628b-feca-4e88-bccc-9be21f07ec6a"/>
              <p:cNvSpPr/>
              <p:nvPr/>
            </p:nvSpPr>
            <p:spPr>
              <a:xfrm>
                <a:off x="7240913" y="4553787"/>
                <a:ext cx="1833317" cy="606511"/>
              </a:xfrm>
              <a:prstGeom prst="roundRect">
                <a:avLst/>
              </a:prstGeom>
              <a:solidFill>
                <a:schemeClr val="accent1">
                  <a:hueOff val="0"/>
                  <a:satOff val="0"/>
                  <a:lumOff val="0"/>
                </a:schemeClr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0000" tIns="180000" rIns="180000" bIns="90000" numCol="1" spcCol="1270" anchor="b" anchorCtr="0">
                <a:normAutofit fontScale="77500" lnSpcReduction="20000"/>
              </a:bodyPr>
              <a:lstStyle/>
              <a:p>
                <a:pPr algn="l"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编辑区</a:t>
                </a:r>
                <a:endParaRPr lang="en-US" sz="1800" b="1" i="0" u="none">
                  <a:solidFill>
                    <a:srgbClr val="FFFFFF"/>
                  </a:solidFill>
                  <a:ea typeface="微软雅黑"/>
                </a:endParaRPr>
              </a:p>
            </p:txBody>
          </p:sp>
          <p:sp>
            <p:nvSpPr>
              <p:cNvPr id="15" name="ComponentBackground4" descr="89456454-8396-45d5-b407-7b7429b68683"/>
              <p:cNvSpPr/>
              <p:nvPr/>
            </p:nvSpPr>
            <p:spPr>
              <a:xfrm>
                <a:off x="7240913" y="2359036"/>
                <a:ext cx="1833317" cy="2292340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Ctr="0"/>
              <a:lstStyle/>
              <a:p>
                <a:pPr algn="l"/>
              </a:p>
            </p:txBody>
          </p:sp>
          <p:sp>
            <p:nvSpPr>
              <p:cNvPr id="17" name="Number4" descr="02a638df-20a6-4b16-b64c-ea51b44ce6b9"/>
              <p:cNvSpPr/>
              <p:nvPr/>
            </p:nvSpPr>
            <p:spPr>
              <a:xfrm>
                <a:off x="8583843" y="5262616"/>
                <a:ext cx="641661" cy="641661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rgbClr val="FFFFFF">
                    <a:alpha val="90000"/>
                  </a:srgbClr>
                </a:solidFill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wrap="non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4" name="Text4" descr="56cf44e3-8a1b-4e21-a7e4-3cd887b0b263"/>
              <p:cNvSpPr txBox="1"/>
              <p:nvPr/>
            </p:nvSpPr>
            <p:spPr>
              <a:xfrm>
                <a:off x="7304492" y="2543591"/>
                <a:ext cx="1706158" cy="20101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编辑区是用户进行文档编辑的主要区域，用户可以在此输入文字、插入图片等内容。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</p:grpSp>
        <p:grpSp>
          <p:nvGrpSpPr>
            <p:cNvPr id="30" name="组合 29" descr="248cbb6e-e1a4-48a9-a8da-5ca056e7cd6c"/>
            <p:cNvGrpSpPr/>
            <p:nvPr/>
          </p:nvGrpSpPr>
          <p:grpSpPr>
            <a:xfrm>
              <a:off x="9384472" y="2359036"/>
              <a:ext cx="1984591" cy="3545241"/>
              <a:chOff x="9384472" y="2359036"/>
              <a:chExt cx="1984591" cy="3545241"/>
            </a:xfrm>
          </p:grpSpPr>
          <p:sp>
            <p:nvSpPr>
              <p:cNvPr id="19" name="Bullet5" descr="09bfc244-495a-4ca3-8e57-d79ff227d726"/>
              <p:cNvSpPr/>
              <p:nvPr/>
            </p:nvSpPr>
            <p:spPr>
              <a:xfrm>
                <a:off x="9384472" y="4498965"/>
                <a:ext cx="1833317" cy="661334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0000" tIns="180000" rIns="180000" bIns="90000" numCol="1" spcCol="1270" anchor="b" anchorCtr="0">
                <a:normAutofit fontScale="77500" lnSpcReduction="20000"/>
              </a:bodyPr>
              <a:lstStyle/>
              <a:p>
                <a:pPr algn="l"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/>
                  </a:rPr>
                  <a:t>功能区</a:t>
                </a:r>
                <a:endParaRPr lang="en-US" sz="1800" b="1" i="0" u="none">
                  <a:solidFill>
                    <a:srgbClr val="FFFFFF"/>
                  </a:solidFill>
                  <a:ea typeface="微软雅黑"/>
                </a:endParaRPr>
              </a:p>
            </p:txBody>
          </p:sp>
          <p:sp>
            <p:nvSpPr>
              <p:cNvPr id="18" name="ComponentBackground5" descr="b61ac507-222f-4596-abce-344006cad698"/>
              <p:cNvSpPr/>
              <p:nvPr/>
            </p:nvSpPr>
            <p:spPr>
              <a:xfrm>
                <a:off x="9384472" y="2359036"/>
                <a:ext cx="1833317" cy="2292340"/>
              </a:xfrm>
              <a:prstGeom prst="round2SameRect">
                <a:avLst>
                  <a:gd name="adj1" fmla="val 8000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Ctr="0"/>
              <a:lstStyle/>
              <a:p>
                <a:pPr algn="l"/>
              </a:p>
            </p:txBody>
          </p:sp>
          <p:sp>
            <p:nvSpPr>
              <p:cNvPr id="20" name="Number5" descr="99b18f9b-8e9a-4e97-9054-ec1d21ca2ae8"/>
              <p:cNvSpPr/>
              <p:nvPr/>
            </p:nvSpPr>
            <p:spPr>
              <a:xfrm>
                <a:off x="10727402" y="5262616"/>
                <a:ext cx="641661" cy="641661"/>
              </a:xfrm>
              <a:prstGeom prst="ellipse">
                <a:avLst/>
              </a:prstGeom>
              <a:solidFill>
                <a:schemeClr val="tx2"/>
              </a:solidFill>
              <a:ln w="25400">
                <a:solidFill>
                  <a:srgbClr val="FFFFFF">
                    <a:alpha val="90000"/>
                  </a:srgbClr>
                </a:solidFill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wrap="non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05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5" name="Text5" descr="b2c18f82-62c5-446f-acb0-3644a8462495"/>
              <p:cNvSpPr txBox="1"/>
              <p:nvPr/>
            </p:nvSpPr>
            <p:spPr>
              <a:xfrm>
                <a:off x="9448051" y="2543591"/>
                <a:ext cx="1706158" cy="20101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功能区将相关功能分组展示，使用户能更方便地找到和使用功能，如“开始”功能区包含常用格式设置。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操作界面认知</a:t>
            </a:r>
            <a:endParaRPr lang="en-US" sz="2800" b="1" i="0" u="none">
              <a:solidFill>
                <a:srgbClr val="000000"/>
              </a:solidFill>
              <a:ea typeface="微软雅黑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3e329ce-091d-44b2-8737-a6e288a10bc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/>
              </a:rPr>
              <a:t>常用功能操作</a:t>
            </a:r>
            <a:endParaRPr lang="en-US" sz="3600" b="1" i="0" u="none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3" name="文本占位符 2" descr="e0d58142-c9d1-4304-90e0-38f531746459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掌握Office软件中的常用功能操作</a:t>
            </a:r>
            <a:endParaRPr lang="en-US" sz="1600" b="0" i="0" u="none">
              <a:solidFill>
                <a:srgbClr val="000000"/>
              </a:solidFill>
              <a:ea typeface="微软雅黑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117db6e8-b53a-4168-a9e7-e66461cbce3e.source.5.zh-Hans.pptx" descr="0e67a956-deb7-42a7-baa0-94a3d9ca2fb8"/>
          <p:cNvGrpSpPr/>
          <p:nvPr/>
        </p:nvGrpSpPr>
        <p:grpSpPr>
          <a:xfrm>
            <a:off x="0" y="1130300"/>
            <a:ext cx="11520488" cy="4908662"/>
            <a:chOff x="0" y="1130300"/>
            <a:chExt cx="11520488" cy="4908662"/>
          </a:xfrm>
        </p:grpSpPr>
        <p:cxnSp>
          <p:nvCxnSpPr>
            <p:cNvPr id="19" name="îṧḻiďe" descr="116ba92f-8060-49f7-abe6-0345a2ddce43"/>
            <p:cNvCxnSpPr/>
            <p:nvPr/>
          </p:nvCxnSpPr>
          <p:spPr>
            <a:xfrm>
              <a:off x="6276975" y="2985820"/>
              <a:ext cx="5243513" cy="0"/>
            </a:xfrm>
            <a:prstGeom prst="line">
              <a:avLst/>
            </a:prstGeom>
            <a:ln>
              <a:solidFill>
                <a:schemeClr val="tx2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îş1íḓé" descr="c061f2bd-64e4-4b2f-b466-99b2dc03e433"/>
            <p:cNvCxnSpPr/>
            <p:nvPr/>
          </p:nvCxnSpPr>
          <p:spPr>
            <a:xfrm>
              <a:off x="6276975" y="3747176"/>
              <a:ext cx="5243513" cy="0"/>
            </a:xfrm>
            <a:prstGeom prst="line">
              <a:avLst/>
            </a:prstGeom>
            <a:ln>
              <a:solidFill>
                <a:schemeClr val="tx2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íŝḻïďe" descr="6128f2c1-2cf2-48fa-b476-8e8f25c2f3e9"/>
            <p:cNvCxnSpPr/>
            <p:nvPr/>
          </p:nvCxnSpPr>
          <p:spPr>
            <a:xfrm>
              <a:off x="6276975" y="4508532"/>
              <a:ext cx="5243513" cy="0"/>
            </a:xfrm>
            <a:prstGeom prst="line">
              <a:avLst/>
            </a:prstGeom>
            <a:ln>
              <a:solidFill>
                <a:schemeClr val="tx2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iṥḻiḑé" descr="4dd6572d-cb40-40be-8724-43e99c37aec5"/>
            <p:cNvCxnSpPr/>
            <p:nvPr/>
          </p:nvCxnSpPr>
          <p:spPr>
            <a:xfrm>
              <a:off x="6276975" y="5269888"/>
              <a:ext cx="5243513" cy="0"/>
            </a:xfrm>
            <a:prstGeom prst="line">
              <a:avLst/>
            </a:prstGeom>
            <a:ln>
              <a:solidFill>
                <a:schemeClr val="tx2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itle" descr="b89cbcb6-d817-474b-94f6-c123afa85422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学习Word中的文字编辑和排版功能</a:t>
              </a:r>
              <a:endParaRPr lang="en-US" sz="2400" b="1" i="0" u="none">
                <a:solidFill>
                  <a:srgbClr val="000000"/>
                </a:solidFill>
                <a:ea typeface="微软雅黑"/>
              </a:endParaRPr>
            </a:p>
          </p:txBody>
        </p:sp>
        <p:grpSp>
          <p:nvGrpSpPr>
            <p:cNvPr id="60" name="组合 59" descr="18662dd2-15c6-40a5-a61a-18d1b1d2d2e0"/>
            <p:cNvGrpSpPr/>
            <p:nvPr/>
          </p:nvGrpSpPr>
          <p:grpSpPr>
            <a:xfrm>
              <a:off x="0" y="2222536"/>
              <a:ext cx="11518900" cy="763287"/>
              <a:chOff x="0" y="2222536"/>
              <a:chExt cx="11518900" cy="763287"/>
            </a:xfrm>
          </p:grpSpPr>
          <p:sp>
            <p:nvSpPr>
              <p:cNvPr id="3" name="ïṧľiďè" descr="1c832774-67b6-431a-8ab8-136be81663f7"/>
              <p:cNvSpPr/>
              <p:nvPr/>
            </p:nvSpPr>
            <p:spPr bwMode="auto">
              <a:xfrm>
                <a:off x="0" y="2222536"/>
                <a:ext cx="6023992" cy="763285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grpSp>
            <p:nvGrpSpPr>
              <p:cNvPr id="55" name="组合 54" descr="43075d74-6a3c-431d-a088-9b41042a1bd0"/>
              <p:cNvGrpSpPr/>
              <p:nvPr/>
            </p:nvGrpSpPr>
            <p:grpSpPr>
              <a:xfrm>
                <a:off x="1506856" y="2222536"/>
                <a:ext cx="10012044" cy="763287"/>
                <a:chOff x="1506856" y="2222536"/>
                <a:chExt cx="10012044" cy="763287"/>
              </a:xfrm>
            </p:grpSpPr>
            <p:sp>
              <p:nvSpPr>
                <p:cNvPr id="12" name="Number1" descr="a1cfd509-e8b2-4f59-954b-260567eefc46"/>
                <p:cNvSpPr/>
                <p:nvPr/>
              </p:nvSpPr>
              <p:spPr bwMode="auto">
                <a:xfrm>
                  <a:off x="5642349" y="2222536"/>
                  <a:ext cx="763287" cy="763287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 w="31750">
                  <a:solidFill>
                    <a:srgbClr val="FFFFFF"/>
                  </a:solidFill>
                  <a:round/>
                </a:ln>
              </p:spPr>
              <p:txBody>
                <a:bodyPr rot="0" spcFirstLastPara="0" vert="horz" wrap="square" lIns="91440" tIns="45720" rIns="91440" bIns="45720" anchor="ctr" anchorCtr="1" forceAA="0" compatLnSpc="1">
                  <a:normAutofit fontScale="92500" lnSpcReduction="20000"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1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grpSp>
              <p:nvGrpSpPr>
                <p:cNvPr id="50" name="组合 49" descr="64e9b0d9-e713-4fed-b44b-ef21b9eee007"/>
                <p:cNvGrpSpPr/>
                <p:nvPr/>
              </p:nvGrpSpPr>
              <p:grpSpPr>
                <a:xfrm>
                  <a:off x="1506856" y="2305666"/>
                  <a:ext cx="10012044" cy="597024"/>
                  <a:chOff x="1506856" y="2305666"/>
                  <a:chExt cx="10012044" cy="597024"/>
                </a:xfrm>
              </p:grpSpPr>
              <p:sp>
                <p:nvSpPr>
                  <p:cNvPr id="14" name="Text1" descr="cc6f6afb-80b6-46da-9730-0073a9d99f53"/>
                  <p:cNvSpPr/>
                  <p:nvPr/>
                </p:nvSpPr>
                <p:spPr bwMode="auto">
                  <a:xfrm>
                    <a:off x="6405635" y="2305666"/>
                    <a:ext cx="5113265" cy="59702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round/>
                  </a:ln>
                </p:spPr>
                <p:txBody>
                  <a:bodyPr rot="0" spcFirstLastPara="0" vert="horz" wrap="square" lIns="91440" tIns="45720" rIns="91440" bIns="45720" anchor="ctr" anchorCtr="0" forceAA="0" compatLnSpc="1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在Word中可直接输入文字，支持中英文切换，还可通过粘贴功能将其他文本内容复制到文档中。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  <p:sp>
                <p:nvSpPr>
                  <p:cNvPr id="27" name="Bullet1" descr="978a6c2e-f665-464f-a979-f34c5295b8ad"/>
                  <p:cNvSpPr txBox="1"/>
                  <p:nvPr/>
                </p:nvSpPr>
                <p:spPr>
                  <a:xfrm>
                    <a:off x="1506856" y="2426269"/>
                    <a:ext cx="4026703" cy="35581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 lnSpcReduction="10000"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/>
                      </a:rPr>
                      <a:t>文字输入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/>
                    </a:endParaRPr>
                  </a:p>
                </p:txBody>
              </p:sp>
            </p:grpSp>
          </p:grpSp>
        </p:grpSp>
        <p:grpSp>
          <p:nvGrpSpPr>
            <p:cNvPr id="61" name="组合 60" descr="275a2928-0f38-48de-b0ee-e784d502f2fa"/>
            <p:cNvGrpSpPr/>
            <p:nvPr/>
          </p:nvGrpSpPr>
          <p:grpSpPr>
            <a:xfrm>
              <a:off x="0" y="2986780"/>
              <a:ext cx="11518900" cy="763287"/>
              <a:chOff x="0" y="2985820"/>
              <a:chExt cx="11518900" cy="763287"/>
            </a:xfrm>
          </p:grpSpPr>
          <p:sp>
            <p:nvSpPr>
              <p:cNvPr id="4" name="ïśliḓê" descr="8097d956-310e-4ede-b7b4-2f4480cc6de3"/>
              <p:cNvSpPr/>
              <p:nvPr/>
            </p:nvSpPr>
            <p:spPr bwMode="auto">
              <a:xfrm>
                <a:off x="0" y="2985821"/>
                <a:ext cx="6023992" cy="763285"/>
              </a:xfrm>
              <a:prstGeom prst="rect">
                <a:avLst/>
              </a:prstGeom>
              <a:solidFill>
                <a:schemeClr val="accent2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grpSp>
            <p:nvGrpSpPr>
              <p:cNvPr id="56" name="组合 55" descr="678fe06c-08f5-4c04-a7fe-292bce32607a"/>
              <p:cNvGrpSpPr/>
              <p:nvPr/>
            </p:nvGrpSpPr>
            <p:grpSpPr>
              <a:xfrm>
                <a:off x="1506856" y="2985820"/>
                <a:ext cx="10012044" cy="763287"/>
                <a:chOff x="1506856" y="2985820"/>
                <a:chExt cx="10012044" cy="763287"/>
              </a:xfrm>
            </p:grpSpPr>
            <p:sp>
              <p:nvSpPr>
                <p:cNvPr id="11" name="Number2" descr="78535cb1-bc06-48a8-8313-a09b785e2710"/>
                <p:cNvSpPr/>
                <p:nvPr/>
              </p:nvSpPr>
              <p:spPr bwMode="auto">
                <a:xfrm>
                  <a:off x="5642349" y="2985820"/>
                  <a:ext cx="763287" cy="763287"/>
                </a:xfrm>
                <a:prstGeom prst="diamond">
                  <a:avLst/>
                </a:prstGeom>
                <a:solidFill>
                  <a:schemeClr val="accent2">
                    <a:lumMod val="75000"/>
                  </a:schemeClr>
                </a:solidFill>
                <a:ln w="31750">
                  <a:solidFill>
                    <a:srgbClr val="FFFFFF"/>
                  </a:solidFill>
                  <a:round/>
                </a:ln>
              </p:spPr>
              <p:txBody>
                <a:bodyPr rot="0" spcFirstLastPara="0" vert="horz" wrap="square" lIns="91440" tIns="45720" rIns="91440" bIns="45720" anchor="ctr" anchorCtr="1" forceAA="0" compatLnSpc="1">
                  <a:normAutofit fontScale="92500" lnSpcReduction="20000"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2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grpSp>
              <p:nvGrpSpPr>
                <p:cNvPr id="51" name="组合 50" descr="fa68ced8-e09d-4e5f-86e1-15b3c260f2f4"/>
                <p:cNvGrpSpPr/>
                <p:nvPr/>
              </p:nvGrpSpPr>
              <p:grpSpPr>
                <a:xfrm>
                  <a:off x="1506856" y="3068947"/>
                  <a:ext cx="10012044" cy="597024"/>
                  <a:chOff x="1506856" y="3068947"/>
                  <a:chExt cx="10012044" cy="597024"/>
                </a:xfrm>
              </p:grpSpPr>
              <p:sp>
                <p:nvSpPr>
                  <p:cNvPr id="15" name="Text2" descr="b0040908-77bb-470d-88ff-dfa4df210c78"/>
                  <p:cNvSpPr/>
                  <p:nvPr/>
                </p:nvSpPr>
                <p:spPr bwMode="auto">
                  <a:xfrm>
                    <a:off x="6405635" y="3068947"/>
                    <a:ext cx="5113265" cy="59702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round/>
                  </a:ln>
                </p:spPr>
                <p:txBody>
                  <a:bodyPr rot="0" spcFirstLastPara="0" vert="horz" wrap="square" lIns="91440" tIns="45720" rIns="91440" bIns="45720" anchor="ctr" anchorCtr="0" forceAA="0" compatLnSpc="1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可对文字进行字体、字号、颜色等设置，也可对段落进行缩进、行距、对齐方式等排版操作。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  <p:sp>
                <p:nvSpPr>
                  <p:cNvPr id="28" name="Bullet2" descr="384e73d1-c8b5-450e-ace5-b42920fccbc1"/>
                  <p:cNvSpPr txBox="1"/>
                  <p:nvPr/>
                </p:nvSpPr>
                <p:spPr>
                  <a:xfrm>
                    <a:off x="1506856" y="3189550"/>
                    <a:ext cx="4026703" cy="35581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 lnSpcReduction="10000"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/>
                      </a:rPr>
                      <a:t>格式设置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/>
                    </a:endParaRPr>
                  </a:p>
                </p:txBody>
              </p:sp>
            </p:grpSp>
          </p:grpSp>
        </p:grpSp>
        <p:grpSp>
          <p:nvGrpSpPr>
            <p:cNvPr id="62" name="组合 61" descr="b18dfe80-97cd-4eda-b6a8-0d4f697c30c3"/>
            <p:cNvGrpSpPr/>
            <p:nvPr/>
          </p:nvGrpSpPr>
          <p:grpSpPr>
            <a:xfrm>
              <a:off x="0" y="3749104"/>
              <a:ext cx="11518900" cy="763287"/>
              <a:chOff x="0" y="3749104"/>
              <a:chExt cx="11518900" cy="763287"/>
            </a:xfrm>
          </p:grpSpPr>
          <p:sp>
            <p:nvSpPr>
              <p:cNvPr id="5" name="îšḷiďê" descr="24e05c19-7119-4b5b-aa03-667dbe989572"/>
              <p:cNvSpPr/>
              <p:nvPr/>
            </p:nvSpPr>
            <p:spPr bwMode="auto">
              <a:xfrm>
                <a:off x="0" y="3749106"/>
                <a:ext cx="6023992" cy="763285"/>
              </a:xfrm>
              <a:prstGeom prst="rect">
                <a:avLst/>
              </a:prstGeom>
              <a:solidFill>
                <a:schemeClr val="accent3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grpSp>
            <p:nvGrpSpPr>
              <p:cNvPr id="57" name="组合 56" descr="a15c42c7-0653-44a9-81c5-7d0ac1f2cb30"/>
              <p:cNvGrpSpPr/>
              <p:nvPr/>
            </p:nvGrpSpPr>
            <p:grpSpPr>
              <a:xfrm>
                <a:off x="1506856" y="3749104"/>
                <a:ext cx="10012044" cy="763287"/>
                <a:chOff x="1506856" y="3749104"/>
                <a:chExt cx="10012044" cy="763287"/>
              </a:xfrm>
            </p:grpSpPr>
            <p:sp>
              <p:nvSpPr>
                <p:cNvPr id="10" name="Number3" descr="6bb9ca7e-1d7a-49f2-a8d8-3d8f3ea43dba"/>
                <p:cNvSpPr/>
                <p:nvPr/>
              </p:nvSpPr>
              <p:spPr bwMode="auto">
                <a:xfrm>
                  <a:off x="5642349" y="3749104"/>
                  <a:ext cx="763287" cy="763287"/>
                </a:xfrm>
                <a:prstGeom prst="diamond">
                  <a:avLst/>
                </a:prstGeom>
                <a:solidFill>
                  <a:schemeClr val="accent3">
                    <a:lumMod val="75000"/>
                  </a:schemeClr>
                </a:solidFill>
                <a:ln w="31750">
                  <a:solidFill>
                    <a:srgbClr val="FFFFFF"/>
                  </a:solidFill>
                  <a:round/>
                </a:ln>
              </p:spPr>
              <p:txBody>
                <a:bodyPr rot="0" spcFirstLastPara="0" vert="horz" wrap="square" lIns="91440" tIns="45720" rIns="91440" bIns="45720" anchor="ctr" anchorCtr="1" forceAA="0" compatLnSpc="1">
                  <a:normAutofit fontScale="92500" lnSpcReduction="20000"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3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grpSp>
              <p:nvGrpSpPr>
                <p:cNvPr id="52" name="组合 51" descr="8a11427d-4c4c-46c1-ba1c-949d5c6cdef7"/>
                <p:cNvGrpSpPr/>
                <p:nvPr/>
              </p:nvGrpSpPr>
              <p:grpSpPr>
                <a:xfrm>
                  <a:off x="1506856" y="3832228"/>
                  <a:ext cx="10012044" cy="597024"/>
                  <a:chOff x="1506856" y="3832228"/>
                  <a:chExt cx="10012044" cy="597024"/>
                </a:xfrm>
              </p:grpSpPr>
              <p:sp>
                <p:nvSpPr>
                  <p:cNvPr id="16" name="Text3" descr="32a1fd64-f0f3-4509-9fec-6a2f6d10e0d9"/>
                  <p:cNvSpPr/>
                  <p:nvPr/>
                </p:nvSpPr>
                <p:spPr bwMode="auto">
                  <a:xfrm>
                    <a:off x="6405635" y="3832228"/>
                    <a:ext cx="5113265" cy="59702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round/>
                  </a:ln>
                </p:spPr>
                <p:txBody>
                  <a:bodyPr rot="0" spcFirstLastPara="0" vert="horz" wrap="square" lIns="91440" tIns="45720" rIns="91440" bIns="45720" anchor="ctr" anchorCtr="0" forceAA="0" compatLnSpc="1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可插入本地图片或在线图片，还能调整图片的大小、位置、环绕方式等，使文档更生动。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  <p:sp>
                <p:nvSpPr>
                  <p:cNvPr id="29" name="Bullet3" descr="26182191-9cae-47e5-9d7e-ba701f06dd74"/>
                  <p:cNvSpPr txBox="1"/>
                  <p:nvPr/>
                </p:nvSpPr>
                <p:spPr>
                  <a:xfrm>
                    <a:off x="1506856" y="3952831"/>
                    <a:ext cx="4026703" cy="35581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 lnSpcReduction="10000"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/>
                      </a:rPr>
                      <a:t>插入图片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/>
                    </a:endParaRPr>
                  </a:p>
                </p:txBody>
              </p:sp>
            </p:grpSp>
          </p:grpSp>
        </p:grpSp>
        <p:grpSp>
          <p:nvGrpSpPr>
            <p:cNvPr id="63" name="组合 62" descr="9205978d-ec1f-4139-94b2-95e3d86b9cdf"/>
            <p:cNvGrpSpPr/>
            <p:nvPr/>
          </p:nvGrpSpPr>
          <p:grpSpPr>
            <a:xfrm>
              <a:off x="0" y="4512388"/>
              <a:ext cx="11518900" cy="763287"/>
              <a:chOff x="0" y="4512388"/>
              <a:chExt cx="11518900" cy="763287"/>
            </a:xfrm>
          </p:grpSpPr>
          <p:sp>
            <p:nvSpPr>
              <p:cNvPr id="6" name="iš1iḓe" descr="6fd4b334-e3e2-4632-a682-30f75675ca91"/>
              <p:cNvSpPr/>
              <p:nvPr/>
            </p:nvSpPr>
            <p:spPr bwMode="auto">
              <a:xfrm>
                <a:off x="0" y="4512390"/>
                <a:ext cx="6023992" cy="763285"/>
              </a:xfrm>
              <a:prstGeom prst="rect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grpSp>
            <p:nvGrpSpPr>
              <p:cNvPr id="58" name="组合 57" descr="c9eb0c1e-3248-4af4-a16a-d91b396579ca"/>
              <p:cNvGrpSpPr/>
              <p:nvPr/>
            </p:nvGrpSpPr>
            <p:grpSpPr>
              <a:xfrm>
                <a:off x="1506856" y="4512388"/>
                <a:ext cx="10012044" cy="763287"/>
                <a:chOff x="1506856" y="4512388"/>
                <a:chExt cx="10012044" cy="763287"/>
              </a:xfrm>
            </p:grpSpPr>
            <p:sp>
              <p:nvSpPr>
                <p:cNvPr id="9" name="Number4" descr="e90ab7df-a89b-445d-b147-12ae08aeb146"/>
                <p:cNvSpPr/>
                <p:nvPr/>
              </p:nvSpPr>
              <p:spPr bwMode="auto">
                <a:xfrm>
                  <a:off x="5642349" y="4512388"/>
                  <a:ext cx="763287" cy="763287"/>
                </a:xfrm>
                <a:prstGeom prst="diamond">
                  <a:avLst/>
                </a:prstGeom>
                <a:solidFill>
                  <a:schemeClr val="accent4">
                    <a:lumMod val="75000"/>
                  </a:schemeClr>
                </a:solidFill>
                <a:ln w="31750">
                  <a:solidFill>
                    <a:srgbClr val="FFFFFF"/>
                  </a:solidFill>
                  <a:round/>
                </a:ln>
              </p:spPr>
              <p:txBody>
                <a:bodyPr rot="0" spcFirstLastPara="0" vert="horz" wrap="square" lIns="91440" tIns="45720" rIns="91440" bIns="45720" anchor="ctr" anchorCtr="1" forceAA="0" compatLnSpc="1">
                  <a:normAutofit fontScale="92500" lnSpcReduction="20000"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4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grpSp>
              <p:nvGrpSpPr>
                <p:cNvPr id="53" name="组合 52" descr="6dceb51e-c710-4195-854f-deb18465e1b3"/>
                <p:cNvGrpSpPr/>
                <p:nvPr/>
              </p:nvGrpSpPr>
              <p:grpSpPr>
                <a:xfrm>
                  <a:off x="1506856" y="4595509"/>
                  <a:ext cx="10012044" cy="597024"/>
                  <a:chOff x="1506856" y="4595509"/>
                  <a:chExt cx="10012044" cy="597024"/>
                </a:xfrm>
              </p:grpSpPr>
              <p:sp>
                <p:nvSpPr>
                  <p:cNvPr id="17" name="Text4" descr="b7a81d74-bed7-4622-8b51-8920e72db9cc"/>
                  <p:cNvSpPr/>
                  <p:nvPr/>
                </p:nvSpPr>
                <p:spPr bwMode="auto">
                  <a:xfrm>
                    <a:off x="6405635" y="4595509"/>
                    <a:ext cx="5113265" cy="59702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round/>
                  </a:ln>
                </p:spPr>
                <p:txBody>
                  <a:bodyPr rot="0" spcFirstLastPara="0" vert="horz" wrap="square" lIns="91440" tIns="45720" rIns="91440" bIns="45720" anchor="ctr" anchorCtr="0" forceAA="0" compatLnSpc="1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在Word中可创建表格，设置表格的行高、列宽，合并或拆分单元格，方便进行数据展示。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  <p:sp>
                <p:nvSpPr>
                  <p:cNvPr id="30" name="Bullet4" descr="c493dee2-092b-4dac-8f38-c4faee755033"/>
                  <p:cNvSpPr txBox="1"/>
                  <p:nvPr/>
                </p:nvSpPr>
                <p:spPr>
                  <a:xfrm>
                    <a:off x="1506856" y="4716112"/>
                    <a:ext cx="4026703" cy="35581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 lnSpcReduction="10000"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/>
                      </a:rPr>
                      <a:t>表格制作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/>
                    </a:endParaRPr>
                  </a:p>
                </p:txBody>
              </p:sp>
            </p:grpSp>
          </p:grpSp>
        </p:grpSp>
        <p:grpSp>
          <p:nvGrpSpPr>
            <p:cNvPr id="64" name="组合 63" descr="87778b8c-e214-415c-ab44-1f31d94008cf"/>
            <p:cNvGrpSpPr/>
            <p:nvPr/>
          </p:nvGrpSpPr>
          <p:grpSpPr>
            <a:xfrm>
              <a:off x="0" y="5275672"/>
              <a:ext cx="11518900" cy="763288"/>
              <a:chOff x="0" y="5275672"/>
              <a:chExt cx="11518900" cy="763288"/>
            </a:xfrm>
          </p:grpSpPr>
          <p:sp>
            <p:nvSpPr>
              <p:cNvPr id="7" name="íṩḻïḍê" descr="e79a36ec-dac5-4468-95fc-41691b140524"/>
              <p:cNvSpPr/>
              <p:nvPr/>
            </p:nvSpPr>
            <p:spPr bwMode="auto">
              <a:xfrm>
                <a:off x="0" y="5275675"/>
                <a:ext cx="6023992" cy="763285"/>
              </a:xfrm>
              <a:prstGeom prst="rect">
                <a:avLst/>
              </a:prstGeom>
              <a:solidFill>
                <a:schemeClr val="accent5">
                  <a:lumMod val="100000"/>
                </a:schemeClr>
              </a:solidFill>
              <a:ln w="19050">
                <a:noFill/>
                <a:round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grpSp>
            <p:nvGrpSpPr>
              <p:cNvPr id="59" name="组合 58" descr="1c0a222b-2fc5-4a98-831d-062c612265cb"/>
              <p:cNvGrpSpPr/>
              <p:nvPr/>
            </p:nvGrpSpPr>
            <p:grpSpPr>
              <a:xfrm>
                <a:off x="1506856" y="5275672"/>
                <a:ext cx="10012044" cy="763287"/>
                <a:chOff x="1506856" y="5275672"/>
                <a:chExt cx="10012044" cy="763287"/>
              </a:xfrm>
            </p:grpSpPr>
            <p:sp>
              <p:nvSpPr>
                <p:cNvPr id="8" name="Number5" descr="c2cbb7f8-bb70-4364-979b-b56057600cb7"/>
                <p:cNvSpPr/>
                <p:nvPr/>
              </p:nvSpPr>
              <p:spPr bwMode="auto">
                <a:xfrm>
                  <a:off x="5642349" y="5275672"/>
                  <a:ext cx="763287" cy="763287"/>
                </a:xfrm>
                <a:prstGeom prst="diamond">
                  <a:avLst/>
                </a:prstGeom>
                <a:solidFill>
                  <a:schemeClr val="accent5">
                    <a:lumMod val="75000"/>
                  </a:schemeClr>
                </a:solidFill>
                <a:ln w="31750">
                  <a:solidFill>
                    <a:srgbClr val="FFFFFF"/>
                  </a:solidFill>
                  <a:round/>
                </a:ln>
              </p:spPr>
              <p:txBody>
                <a:bodyPr rot="0" spcFirstLastPara="0" vert="horz" wrap="square" lIns="91440" tIns="45720" rIns="91440" bIns="45720" anchor="ctr" anchorCtr="1" forceAA="0" compatLnSpc="1">
                  <a:normAutofit fontScale="92500" lnSpcReduction="20000"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5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grpSp>
              <p:nvGrpSpPr>
                <p:cNvPr id="54" name="组合 53" descr="d711d836-7676-4017-a130-88f5c0bb1370"/>
                <p:cNvGrpSpPr/>
                <p:nvPr/>
              </p:nvGrpSpPr>
              <p:grpSpPr>
                <a:xfrm>
                  <a:off x="1506856" y="5358790"/>
                  <a:ext cx="10012044" cy="597024"/>
                  <a:chOff x="1506856" y="5358790"/>
                  <a:chExt cx="10012044" cy="597024"/>
                </a:xfrm>
              </p:grpSpPr>
              <p:sp>
                <p:nvSpPr>
                  <p:cNvPr id="18" name="Text5" descr="3b68712c-984b-4158-8e63-43d53aadfc0e"/>
                  <p:cNvSpPr/>
                  <p:nvPr/>
                </p:nvSpPr>
                <p:spPr bwMode="auto">
                  <a:xfrm>
                    <a:off x="6405635" y="5358790"/>
                    <a:ext cx="5113265" cy="597024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  <a:round/>
                  </a:ln>
                </p:spPr>
                <p:txBody>
                  <a:bodyPr rot="0" spcFirstLastPara="0" vert="horz" wrap="square" lIns="91440" tIns="45720" rIns="91440" bIns="45720" anchor="ctr" anchorCtr="0" forceAA="0" compatLnSpc="1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根据文档中的标题样式，可自动生成目录，方便读者快速定位到文档的各个部分。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  <p:sp>
                <p:nvSpPr>
                  <p:cNvPr id="31" name="Bullet5" descr="50cf7979-2c82-4a27-adb0-a0ff2a44d127"/>
                  <p:cNvSpPr txBox="1"/>
                  <p:nvPr/>
                </p:nvSpPr>
                <p:spPr>
                  <a:xfrm>
                    <a:off x="1506856" y="5479393"/>
                    <a:ext cx="4026703" cy="35581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 lnSpcReduction="10000"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FFFFFF"/>
                        </a:solidFill>
                        <a:ea typeface="微软雅黑"/>
                      </a:rPr>
                      <a:t>目录生成</a:t>
                    </a:r>
                    <a:endParaRPr lang="en-US" sz="1800" b="1" i="0" u="none">
                      <a:solidFill>
                        <a:srgbClr val="FFFFFF"/>
                      </a:solidFill>
                      <a:ea typeface="微软雅黑"/>
                    </a:endParaRPr>
                  </a:p>
                </p:txBody>
              </p:sp>
            </p:grpSp>
          </p:grpSp>
        </p:grpSp>
        <p:sp>
          <p:nvSpPr>
            <p:cNvPr id="26" name="PictureMisc" descr="e8d5abe8-abd6-4d2f-93f4-499e23d39daa"/>
            <p:cNvSpPr txBox="1"/>
            <p:nvPr/>
          </p:nvSpPr>
          <p:spPr>
            <a:xfrm rot="5400000">
              <a:off x="-874217" y="3766678"/>
              <a:ext cx="3816426" cy="728142"/>
            </a:xfrm>
            <a:custGeom>
              <a:avLst/>
              <a:gdLst/>
              <a:ahLst/>
              <a:cxnLst/>
              <a:rect l="l" t="t" r="r" b="b"/>
              <a:pathLst>
                <a:path w="3816426" h="728142">
                  <a:moveTo>
                    <a:pt x="869342" y="304513"/>
                  </a:moveTo>
                  <a:cubicBezTo>
                    <a:pt x="837203" y="304513"/>
                    <a:pt x="810178" y="317962"/>
                    <a:pt x="788266" y="344859"/>
                  </a:cubicBezTo>
                  <a:cubicBezTo>
                    <a:pt x="766353" y="371756"/>
                    <a:pt x="755397" y="410501"/>
                    <a:pt x="755397" y="461093"/>
                  </a:cubicBezTo>
                  <a:cubicBezTo>
                    <a:pt x="755397" y="511685"/>
                    <a:pt x="766353" y="550429"/>
                    <a:pt x="788266" y="577326"/>
                  </a:cubicBezTo>
                  <a:cubicBezTo>
                    <a:pt x="810178" y="604224"/>
                    <a:pt x="837203" y="617672"/>
                    <a:pt x="869342" y="617672"/>
                  </a:cubicBezTo>
                  <a:cubicBezTo>
                    <a:pt x="901480" y="617672"/>
                    <a:pt x="928432" y="604224"/>
                    <a:pt x="950199" y="577326"/>
                  </a:cubicBezTo>
                  <a:cubicBezTo>
                    <a:pt x="971965" y="550429"/>
                    <a:pt x="982849" y="511365"/>
                    <a:pt x="982849" y="460132"/>
                  </a:cubicBezTo>
                  <a:cubicBezTo>
                    <a:pt x="982849" y="410180"/>
                    <a:pt x="971965" y="371756"/>
                    <a:pt x="950199" y="344859"/>
                  </a:cubicBezTo>
                  <a:cubicBezTo>
                    <a:pt x="928432" y="317962"/>
                    <a:pt x="901480" y="304513"/>
                    <a:pt x="869342" y="304513"/>
                  </a:cubicBezTo>
                  <a:close/>
                  <a:moveTo>
                    <a:pt x="2263707" y="297789"/>
                  </a:moveTo>
                  <a:cubicBezTo>
                    <a:pt x="2236827" y="297789"/>
                    <a:pt x="2214623" y="308516"/>
                    <a:pt x="2197093" y="329969"/>
                  </a:cubicBezTo>
                  <a:cubicBezTo>
                    <a:pt x="2179563" y="351423"/>
                    <a:pt x="2170944" y="380562"/>
                    <a:pt x="2171236" y="417385"/>
                  </a:cubicBezTo>
                  <a:cubicBezTo>
                    <a:pt x="2232591" y="417385"/>
                    <a:pt x="2293946" y="417385"/>
                    <a:pt x="2355301" y="417385"/>
                  </a:cubicBezTo>
                  <a:cubicBezTo>
                    <a:pt x="2354424" y="378320"/>
                    <a:pt x="2345221" y="348621"/>
                    <a:pt x="2327691" y="328288"/>
                  </a:cubicBezTo>
                  <a:cubicBezTo>
                    <a:pt x="2310161" y="307955"/>
                    <a:pt x="2288833" y="297789"/>
                    <a:pt x="2263707" y="297789"/>
                  </a:cubicBezTo>
                  <a:close/>
                  <a:moveTo>
                    <a:pt x="3594672" y="194524"/>
                  </a:moveTo>
                  <a:cubicBezTo>
                    <a:pt x="3658364" y="194524"/>
                    <a:pt x="3705695" y="205891"/>
                    <a:pt x="3736665" y="228625"/>
                  </a:cubicBezTo>
                  <a:cubicBezTo>
                    <a:pt x="3767634" y="251360"/>
                    <a:pt x="3788962" y="284981"/>
                    <a:pt x="3800649" y="329489"/>
                  </a:cubicBezTo>
                  <a:cubicBezTo>
                    <a:pt x="3761937" y="337334"/>
                    <a:pt x="3723225" y="345179"/>
                    <a:pt x="3684513" y="353024"/>
                  </a:cubicBezTo>
                  <a:cubicBezTo>
                    <a:pt x="3679546" y="333171"/>
                    <a:pt x="3670123" y="317962"/>
                    <a:pt x="3656246" y="307395"/>
                  </a:cubicBezTo>
                  <a:cubicBezTo>
                    <a:pt x="3642368" y="296828"/>
                    <a:pt x="3622573" y="291545"/>
                    <a:pt x="3596863" y="291545"/>
                  </a:cubicBezTo>
                  <a:cubicBezTo>
                    <a:pt x="3564433" y="291545"/>
                    <a:pt x="3541205" y="296508"/>
                    <a:pt x="3527181" y="306435"/>
                  </a:cubicBezTo>
                  <a:cubicBezTo>
                    <a:pt x="3517832" y="313479"/>
                    <a:pt x="3513157" y="322605"/>
                    <a:pt x="3513157" y="333812"/>
                  </a:cubicBezTo>
                  <a:cubicBezTo>
                    <a:pt x="3513157" y="343418"/>
                    <a:pt x="3517247" y="351583"/>
                    <a:pt x="3525428" y="358307"/>
                  </a:cubicBezTo>
                  <a:cubicBezTo>
                    <a:pt x="3536531" y="367273"/>
                    <a:pt x="3574877" y="379921"/>
                    <a:pt x="3640469" y="396251"/>
                  </a:cubicBezTo>
                  <a:cubicBezTo>
                    <a:pt x="3706060" y="412582"/>
                    <a:pt x="3751857" y="432595"/>
                    <a:pt x="3777860" y="456290"/>
                  </a:cubicBezTo>
                  <a:cubicBezTo>
                    <a:pt x="3803571" y="480305"/>
                    <a:pt x="3816426" y="513766"/>
                    <a:pt x="3816426" y="556673"/>
                  </a:cubicBezTo>
                  <a:cubicBezTo>
                    <a:pt x="3816426" y="603423"/>
                    <a:pt x="3798604" y="643609"/>
                    <a:pt x="3762960" y="677230"/>
                  </a:cubicBezTo>
                  <a:cubicBezTo>
                    <a:pt x="3727315" y="710851"/>
                    <a:pt x="3674579" y="727662"/>
                    <a:pt x="3604751" y="727662"/>
                  </a:cubicBezTo>
                  <a:cubicBezTo>
                    <a:pt x="3541351" y="727662"/>
                    <a:pt x="3491172" y="713573"/>
                    <a:pt x="3454213" y="685395"/>
                  </a:cubicBezTo>
                  <a:cubicBezTo>
                    <a:pt x="3417253" y="657217"/>
                    <a:pt x="3393077" y="618953"/>
                    <a:pt x="3381682" y="570602"/>
                  </a:cubicBezTo>
                  <a:cubicBezTo>
                    <a:pt x="3422878" y="563718"/>
                    <a:pt x="3464073" y="556833"/>
                    <a:pt x="3505269" y="549949"/>
                  </a:cubicBezTo>
                  <a:cubicBezTo>
                    <a:pt x="3510528" y="576206"/>
                    <a:pt x="3521192" y="596138"/>
                    <a:pt x="3537261" y="609747"/>
                  </a:cubicBezTo>
                  <a:cubicBezTo>
                    <a:pt x="3553330" y="623356"/>
                    <a:pt x="3575827" y="630160"/>
                    <a:pt x="3604751" y="630160"/>
                  </a:cubicBezTo>
                  <a:cubicBezTo>
                    <a:pt x="3636598" y="630160"/>
                    <a:pt x="3660555" y="623756"/>
                    <a:pt x="3676625" y="610948"/>
                  </a:cubicBezTo>
                  <a:cubicBezTo>
                    <a:pt x="3687435" y="601982"/>
                    <a:pt x="3692840" y="589974"/>
                    <a:pt x="3692840" y="574925"/>
                  </a:cubicBezTo>
                  <a:cubicBezTo>
                    <a:pt x="3692840" y="564678"/>
                    <a:pt x="3689918" y="556193"/>
                    <a:pt x="3684075" y="549469"/>
                  </a:cubicBezTo>
                  <a:cubicBezTo>
                    <a:pt x="3677939" y="543065"/>
                    <a:pt x="3664207" y="537141"/>
                    <a:pt x="3642879" y="531697"/>
                  </a:cubicBezTo>
                  <a:cubicBezTo>
                    <a:pt x="3543543" y="507682"/>
                    <a:pt x="3480581" y="485748"/>
                    <a:pt x="3453993" y="465896"/>
                  </a:cubicBezTo>
                  <a:cubicBezTo>
                    <a:pt x="3417180" y="438358"/>
                    <a:pt x="3398774" y="400094"/>
                    <a:pt x="3398774" y="351103"/>
                  </a:cubicBezTo>
                  <a:cubicBezTo>
                    <a:pt x="3398774" y="306915"/>
                    <a:pt x="3414697" y="269771"/>
                    <a:pt x="3446543" y="239672"/>
                  </a:cubicBezTo>
                  <a:cubicBezTo>
                    <a:pt x="3478390" y="209573"/>
                    <a:pt x="3527766" y="194524"/>
                    <a:pt x="3594672" y="194524"/>
                  </a:cubicBezTo>
                  <a:close/>
                  <a:moveTo>
                    <a:pt x="2831825" y="194524"/>
                  </a:moveTo>
                  <a:cubicBezTo>
                    <a:pt x="2858996" y="194524"/>
                    <a:pt x="2883830" y="199887"/>
                    <a:pt x="2906327" y="210614"/>
                  </a:cubicBezTo>
                  <a:cubicBezTo>
                    <a:pt x="2928824" y="221341"/>
                    <a:pt x="2945843" y="235029"/>
                    <a:pt x="2957383" y="251680"/>
                  </a:cubicBezTo>
                  <a:cubicBezTo>
                    <a:pt x="2968924" y="268330"/>
                    <a:pt x="2976958" y="287222"/>
                    <a:pt x="2981487" y="308356"/>
                  </a:cubicBezTo>
                  <a:cubicBezTo>
                    <a:pt x="2986016" y="329489"/>
                    <a:pt x="2988280" y="359748"/>
                    <a:pt x="2988280" y="399133"/>
                  </a:cubicBezTo>
                  <a:cubicBezTo>
                    <a:pt x="2988280" y="504800"/>
                    <a:pt x="2988280" y="610467"/>
                    <a:pt x="2988280" y="716135"/>
                  </a:cubicBezTo>
                  <a:cubicBezTo>
                    <a:pt x="2947230" y="716135"/>
                    <a:pt x="2906181" y="716135"/>
                    <a:pt x="2865132" y="716135"/>
                  </a:cubicBezTo>
                  <a:cubicBezTo>
                    <a:pt x="2865132" y="629359"/>
                    <a:pt x="2865132" y="542584"/>
                    <a:pt x="2865132" y="455809"/>
                  </a:cubicBezTo>
                  <a:cubicBezTo>
                    <a:pt x="2865132" y="400734"/>
                    <a:pt x="2862502" y="365112"/>
                    <a:pt x="2857243" y="348941"/>
                  </a:cubicBezTo>
                  <a:cubicBezTo>
                    <a:pt x="2851984" y="332771"/>
                    <a:pt x="2843438" y="320203"/>
                    <a:pt x="2831605" y="311238"/>
                  </a:cubicBezTo>
                  <a:cubicBezTo>
                    <a:pt x="2819773" y="302272"/>
                    <a:pt x="2805530" y="297789"/>
                    <a:pt x="2788876" y="297789"/>
                  </a:cubicBezTo>
                  <a:cubicBezTo>
                    <a:pt x="2767548" y="297789"/>
                    <a:pt x="2748411" y="304193"/>
                    <a:pt x="2731465" y="317001"/>
                  </a:cubicBezTo>
                  <a:cubicBezTo>
                    <a:pt x="2714520" y="329809"/>
                    <a:pt x="2702906" y="346780"/>
                    <a:pt x="2696625" y="367914"/>
                  </a:cubicBezTo>
                  <a:cubicBezTo>
                    <a:pt x="2690343" y="389047"/>
                    <a:pt x="2687202" y="428112"/>
                    <a:pt x="2687202" y="485108"/>
                  </a:cubicBezTo>
                  <a:cubicBezTo>
                    <a:pt x="2687202" y="562117"/>
                    <a:pt x="2687202" y="639126"/>
                    <a:pt x="2687202" y="716135"/>
                  </a:cubicBezTo>
                  <a:cubicBezTo>
                    <a:pt x="2646153" y="716135"/>
                    <a:pt x="2605103" y="716135"/>
                    <a:pt x="2564054" y="716135"/>
                  </a:cubicBezTo>
                  <a:cubicBezTo>
                    <a:pt x="2564054" y="546107"/>
                    <a:pt x="2564054" y="376079"/>
                    <a:pt x="2564054" y="206051"/>
                  </a:cubicBezTo>
                  <a:cubicBezTo>
                    <a:pt x="2602182" y="206051"/>
                    <a:pt x="2640310" y="206051"/>
                    <a:pt x="2678437" y="206051"/>
                  </a:cubicBezTo>
                  <a:cubicBezTo>
                    <a:pt x="2678437" y="231027"/>
                    <a:pt x="2678437" y="256003"/>
                    <a:pt x="2678437" y="280978"/>
                  </a:cubicBezTo>
                  <a:cubicBezTo>
                    <a:pt x="2719048" y="223342"/>
                    <a:pt x="2770178" y="194524"/>
                    <a:pt x="2831825" y="194524"/>
                  </a:cubicBezTo>
                  <a:close/>
                  <a:moveTo>
                    <a:pt x="2256257" y="194524"/>
                  </a:moveTo>
                  <a:cubicBezTo>
                    <a:pt x="2325500" y="194524"/>
                    <a:pt x="2380135" y="219579"/>
                    <a:pt x="2420162" y="269691"/>
                  </a:cubicBezTo>
                  <a:cubicBezTo>
                    <a:pt x="2460189" y="319803"/>
                    <a:pt x="2479326" y="396572"/>
                    <a:pt x="2477573" y="499997"/>
                  </a:cubicBezTo>
                  <a:cubicBezTo>
                    <a:pt x="2374730" y="499997"/>
                    <a:pt x="2271887" y="499997"/>
                    <a:pt x="2169045" y="499997"/>
                  </a:cubicBezTo>
                  <a:cubicBezTo>
                    <a:pt x="2169921" y="540023"/>
                    <a:pt x="2179855" y="571163"/>
                    <a:pt x="2198846" y="593417"/>
                  </a:cubicBezTo>
                  <a:cubicBezTo>
                    <a:pt x="2217837" y="615671"/>
                    <a:pt x="2241502" y="626798"/>
                    <a:pt x="2269842" y="626798"/>
                  </a:cubicBezTo>
                  <a:cubicBezTo>
                    <a:pt x="2289125" y="626798"/>
                    <a:pt x="2305340" y="621034"/>
                    <a:pt x="2318488" y="609507"/>
                  </a:cubicBezTo>
                  <a:cubicBezTo>
                    <a:pt x="2331636" y="597980"/>
                    <a:pt x="2341569" y="579408"/>
                    <a:pt x="2348289" y="553792"/>
                  </a:cubicBezTo>
                  <a:cubicBezTo>
                    <a:pt x="2389192" y="561316"/>
                    <a:pt x="2430096" y="568841"/>
                    <a:pt x="2470999" y="576366"/>
                  </a:cubicBezTo>
                  <a:cubicBezTo>
                    <a:pt x="2455222" y="625677"/>
                    <a:pt x="2430315" y="663221"/>
                    <a:pt x="2396277" y="688997"/>
                  </a:cubicBezTo>
                  <a:cubicBezTo>
                    <a:pt x="2362240" y="714774"/>
                    <a:pt x="2319657" y="727662"/>
                    <a:pt x="2268528" y="727662"/>
                  </a:cubicBezTo>
                  <a:cubicBezTo>
                    <a:pt x="2187597" y="727662"/>
                    <a:pt x="2127703" y="698683"/>
                    <a:pt x="2088845" y="640727"/>
                  </a:cubicBezTo>
                  <a:cubicBezTo>
                    <a:pt x="2058168" y="594297"/>
                    <a:pt x="2042829" y="535700"/>
                    <a:pt x="2042829" y="464935"/>
                  </a:cubicBezTo>
                  <a:cubicBezTo>
                    <a:pt x="2042829" y="380401"/>
                    <a:pt x="2062988" y="314199"/>
                    <a:pt x="2103307" y="266329"/>
                  </a:cubicBezTo>
                  <a:cubicBezTo>
                    <a:pt x="2143626" y="218459"/>
                    <a:pt x="2194609" y="194524"/>
                    <a:pt x="2256257" y="194524"/>
                  </a:cubicBezTo>
                  <a:close/>
                  <a:moveTo>
                    <a:pt x="1485521" y="194524"/>
                  </a:moveTo>
                  <a:cubicBezTo>
                    <a:pt x="1512693" y="194524"/>
                    <a:pt x="1537527" y="199887"/>
                    <a:pt x="1560023" y="210614"/>
                  </a:cubicBezTo>
                  <a:cubicBezTo>
                    <a:pt x="1582520" y="221341"/>
                    <a:pt x="1599539" y="235029"/>
                    <a:pt x="1611080" y="251680"/>
                  </a:cubicBezTo>
                  <a:cubicBezTo>
                    <a:pt x="1622620" y="268330"/>
                    <a:pt x="1630655" y="287222"/>
                    <a:pt x="1635183" y="308356"/>
                  </a:cubicBezTo>
                  <a:cubicBezTo>
                    <a:pt x="1639712" y="329489"/>
                    <a:pt x="1641976" y="359748"/>
                    <a:pt x="1641976" y="399133"/>
                  </a:cubicBezTo>
                  <a:cubicBezTo>
                    <a:pt x="1641976" y="504800"/>
                    <a:pt x="1641976" y="610467"/>
                    <a:pt x="1641976" y="716135"/>
                  </a:cubicBezTo>
                  <a:cubicBezTo>
                    <a:pt x="1600927" y="716135"/>
                    <a:pt x="1559878" y="716135"/>
                    <a:pt x="1518828" y="716135"/>
                  </a:cubicBezTo>
                  <a:cubicBezTo>
                    <a:pt x="1518828" y="629359"/>
                    <a:pt x="1518828" y="542584"/>
                    <a:pt x="1518828" y="455809"/>
                  </a:cubicBezTo>
                  <a:cubicBezTo>
                    <a:pt x="1518828" y="400734"/>
                    <a:pt x="1516199" y="365112"/>
                    <a:pt x="1510940" y="348941"/>
                  </a:cubicBezTo>
                  <a:cubicBezTo>
                    <a:pt x="1505681" y="332771"/>
                    <a:pt x="1497135" y="320203"/>
                    <a:pt x="1485302" y="311238"/>
                  </a:cubicBezTo>
                  <a:cubicBezTo>
                    <a:pt x="1473469" y="302272"/>
                    <a:pt x="1459226" y="297789"/>
                    <a:pt x="1442573" y="297789"/>
                  </a:cubicBezTo>
                  <a:cubicBezTo>
                    <a:pt x="1421244" y="297789"/>
                    <a:pt x="1402107" y="304193"/>
                    <a:pt x="1385162" y="317001"/>
                  </a:cubicBezTo>
                  <a:cubicBezTo>
                    <a:pt x="1368216" y="329809"/>
                    <a:pt x="1356603" y="346780"/>
                    <a:pt x="1350321" y="367914"/>
                  </a:cubicBezTo>
                  <a:cubicBezTo>
                    <a:pt x="1344039" y="389047"/>
                    <a:pt x="1340899" y="428112"/>
                    <a:pt x="1340899" y="485108"/>
                  </a:cubicBezTo>
                  <a:cubicBezTo>
                    <a:pt x="1340899" y="562117"/>
                    <a:pt x="1340899" y="639126"/>
                    <a:pt x="1340899" y="716135"/>
                  </a:cubicBezTo>
                  <a:cubicBezTo>
                    <a:pt x="1299849" y="716135"/>
                    <a:pt x="1258800" y="716135"/>
                    <a:pt x="1217750" y="716135"/>
                  </a:cubicBezTo>
                  <a:cubicBezTo>
                    <a:pt x="1217750" y="546107"/>
                    <a:pt x="1217750" y="376079"/>
                    <a:pt x="1217750" y="206051"/>
                  </a:cubicBezTo>
                  <a:cubicBezTo>
                    <a:pt x="1255878" y="206051"/>
                    <a:pt x="1294006" y="206051"/>
                    <a:pt x="1332134" y="206051"/>
                  </a:cubicBezTo>
                  <a:cubicBezTo>
                    <a:pt x="1332134" y="231027"/>
                    <a:pt x="1332134" y="256003"/>
                    <a:pt x="1332134" y="280978"/>
                  </a:cubicBezTo>
                  <a:cubicBezTo>
                    <a:pt x="1372745" y="223342"/>
                    <a:pt x="1423874" y="194524"/>
                    <a:pt x="1485521" y="194524"/>
                  </a:cubicBezTo>
                  <a:close/>
                  <a:moveTo>
                    <a:pt x="868903" y="194524"/>
                  </a:moveTo>
                  <a:cubicBezTo>
                    <a:pt x="939316" y="194524"/>
                    <a:pt x="997019" y="219579"/>
                    <a:pt x="1042012" y="269691"/>
                  </a:cubicBezTo>
                  <a:cubicBezTo>
                    <a:pt x="1087006" y="319803"/>
                    <a:pt x="1109503" y="383123"/>
                    <a:pt x="1109503" y="459652"/>
                  </a:cubicBezTo>
                  <a:cubicBezTo>
                    <a:pt x="1109503" y="536821"/>
                    <a:pt x="1086787" y="600781"/>
                    <a:pt x="1041355" y="651534"/>
                  </a:cubicBezTo>
                  <a:cubicBezTo>
                    <a:pt x="995923" y="702286"/>
                    <a:pt x="938731" y="727662"/>
                    <a:pt x="869780" y="727662"/>
                  </a:cubicBezTo>
                  <a:cubicBezTo>
                    <a:pt x="827124" y="727662"/>
                    <a:pt x="786439" y="717095"/>
                    <a:pt x="747727" y="695962"/>
                  </a:cubicBezTo>
                  <a:cubicBezTo>
                    <a:pt x="709015" y="674828"/>
                    <a:pt x="679580" y="643849"/>
                    <a:pt x="659420" y="603023"/>
                  </a:cubicBezTo>
                  <a:cubicBezTo>
                    <a:pt x="639261" y="562197"/>
                    <a:pt x="629181" y="512485"/>
                    <a:pt x="629181" y="453888"/>
                  </a:cubicBezTo>
                  <a:cubicBezTo>
                    <a:pt x="629181" y="409060"/>
                    <a:pt x="639261" y="365672"/>
                    <a:pt x="659420" y="323726"/>
                  </a:cubicBezTo>
                  <a:cubicBezTo>
                    <a:pt x="679580" y="281779"/>
                    <a:pt x="708139" y="249759"/>
                    <a:pt x="745098" y="227665"/>
                  </a:cubicBezTo>
                  <a:cubicBezTo>
                    <a:pt x="782057" y="205571"/>
                    <a:pt x="823326" y="194524"/>
                    <a:pt x="868903" y="194524"/>
                  </a:cubicBezTo>
                  <a:close/>
                  <a:moveTo>
                    <a:pt x="3255174" y="25937"/>
                  </a:moveTo>
                  <a:cubicBezTo>
                    <a:pt x="3255174" y="85975"/>
                    <a:pt x="3255174" y="146013"/>
                    <a:pt x="3255174" y="206051"/>
                  </a:cubicBezTo>
                  <a:cubicBezTo>
                    <a:pt x="3283222" y="206051"/>
                    <a:pt x="3311270" y="206051"/>
                    <a:pt x="3339318" y="206051"/>
                  </a:cubicBezTo>
                  <a:cubicBezTo>
                    <a:pt x="3339318" y="241914"/>
                    <a:pt x="3339318" y="277776"/>
                    <a:pt x="3339318" y="313639"/>
                  </a:cubicBezTo>
                  <a:cubicBezTo>
                    <a:pt x="3311270" y="313639"/>
                    <a:pt x="3283222" y="313639"/>
                    <a:pt x="3255174" y="313639"/>
                  </a:cubicBezTo>
                  <a:cubicBezTo>
                    <a:pt x="3255174" y="382163"/>
                    <a:pt x="3255174" y="450686"/>
                    <a:pt x="3255174" y="519210"/>
                  </a:cubicBezTo>
                  <a:cubicBezTo>
                    <a:pt x="3255174" y="560836"/>
                    <a:pt x="3255978" y="585091"/>
                    <a:pt x="3257585" y="591976"/>
                  </a:cubicBezTo>
                  <a:cubicBezTo>
                    <a:pt x="3259192" y="598860"/>
                    <a:pt x="3262843" y="604544"/>
                    <a:pt x="3268541" y="609027"/>
                  </a:cubicBezTo>
                  <a:cubicBezTo>
                    <a:pt x="3274238" y="613509"/>
                    <a:pt x="3281177" y="615751"/>
                    <a:pt x="3289357" y="615751"/>
                  </a:cubicBezTo>
                  <a:cubicBezTo>
                    <a:pt x="3300752" y="615751"/>
                    <a:pt x="3317260" y="611428"/>
                    <a:pt x="3338880" y="602783"/>
                  </a:cubicBezTo>
                  <a:cubicBezTo>
                    <a:pt x="3342386" y="637685"/>
                    <a:pt x="3345892" y="672587"/>
                    <a:pt x="3349398" y="707489"/>
                  </a:cubicBezTo>
                  <a:cubicBezTo>
                    <a:pt x="3320765" y="720938"/>
                    <a:pt x="3288335" y="727662"/>
                    <a:pt x="3252106" y="727662"/>
                  </a:cubicBezTo>
                  <a:cubicBezTo>
                    <a:pt x="3229902" y="727662"/>
                    <a:pt x="3209888" y="723579"/>
                    <a:pt x="3192066" y="715414"/>
                  </a:cubicBezTo>
                  <a:cubicBezTo>
                    <a:pt x="3174244" y="707249"/>
                    <a:pt x="3161169" y="696682"/>
                    <a:pt x="3152843" y="683714"/>
                  </a:cubicBezTo>
                  <a:cubicBezTo>
                    <a:pt x="3144516" y="670746"/>
                    <a:pt x="3138746" y="653215"/>
                    <a:pt x="3135532" y="631121"/>
                  </a:cubicBezTo>
                  <a:cubicBezTo>
                    <a:pt x="3132902" y="615431"/>
                    <a:pt x="3131588" y="583731"/>
                    <a:pt x="3131588" y="536020"/>
                  </a:cubicBezTo>
                  <a:cubicBezTo>
                    <a:pt x="3131588" y="461893"/>
                    <a:pt x="3131588" y="387766"/>
                    <a:pt x="3131588" y="313639"/>
                  </a:cubicBezTo>
                  <a:cubicBezTo>
                    <a:pt x="3112743" y="313639"/>
                    <a:pt x="3093898" y="313639"/>
                    <a:pt x="3075053" y="313639"/>
                  </a:cubicBezTo>
                  <a:cubicBezTo>
                    <a:pt x="3075053" y="277776"/>
                    <a:pt x="3075053" y="241914"/>
                    <a:pt x="3075053" y="206051"/>
                  </a:cubicBezTo>
                  <a:cubicBezTo>
                    <a:pt x="3093898" y="206051"/>
                    <a:pt x="3112743" y="206051"/>
                    <a:pt x="3131588" y="206051"/>
                  </a:cubicBezTo>
                  <a:cubicBezTo>
                    <a:pt x="3131588" y="172269"/>
                    <a:pt x="3131588" y="138488"/>
                    <a:pt x="3131588" y="104707"/>
                  </a:cubicBezTo>
                  <a:cubicBezTo>
                    <a:pt x="3172783" y="78450"/>
                    <a:pt x="3213979" y="52193"/>
                    <a:pt x="3255174" y="25937"/>
                  </a:cubicBezTo>
                  <a:close/>
                  <a:moveTo>
                    <a:pt x="1908870" y="25937"/>
                  </a:moveTo>
                  <a:cubicBezTo>
                    <a:pt x="1908870" y="85975"/>
                    <a:pt x="1908870" y="146013"/>
                    <a:pt x="1908870" y="206051"/>
                  </a:cubicBezTo>
                  <a:cubicBezTo>
                    <a:pt x="1936918" y="206051"/>
                    <a:pt x="1964966" y="206051"/>
                    <a:pt x="1993014" y="206051"/>
                  </a:cubicBezTo>
                  <a:cubicBezTo>
                    <a:pt x="1993014" y="241914"/>
                    <a:pt x="1993014" y="277776"/>
                    <a:pt x="1993014" y="313639"/>
                  </a:cubicBezTo>
                  <a:cubicBezTo>
                    <a:pt x="1964966" y="313639"/>
                    <a:pt x="1936918" y="313639"/>
                    <a:pt x="1908870" y="313639"/>
                  </a:cubicBezTo>
                  <a:cubicBezTo>
                    <a:pt x="1908870" y="382163"/>
                    <a:pt x="1908870" y="450686"/>
                    <a:pt x="1908870" y="519210"/>
                  </a:cubicBezTo>
                  <a:cubicBezTo>
                    <a:pt x="1908870" y="560836"/>
                    <a:pt x="1909674" y="585091"/>
                    <a:pt x="1911281" y="591976"/>
                  </a:cubicBezTo>
                  <a:cubicBezTo>
                    <a:pt x="1912888" y="598860"/>
                    <a:pt x="1916540" y="604544"/>
                    <a:pt x="1922237" y="609027"/>
                  </a:cubicBezTo>
                  <a:cubicBezTo>
                    <a:pt x="1927934" y="613509"/>
                    <a:pt x="1934873" y="615751"/>
                    <a:pt x="1943054" y="615751"/>
                  </a:cubicBezTo>
                  <a:cubicBezTo>
                    <a:pt x="1954448" y="615751"/>
                    <a:pt x="1970956" y="611428"/>
                    <a:pt x="1992576" y="602783"/>
                  </a:cubicBezTo>
                  <a:cubicBezTo>
                    <a:pt x="1996082" y="637685"/>
                    <a:pt x="1999588" y="672587"/>
                    <a:pt x="2003094" y="707489"/>
                  </a:cubicBezTo>
                  <a:cubicBezTo>
                    <a:pt x="1974462" y="720938"/>
                    <a:pt x="1942031" y="727662"/>
                    <a:pt x="1905803" y="727662"/>
                  </a:cubicBezTo>
                  <a:cubicBezTo>
                    <a:pt x="1883598" y="727662"/>
                    <a:pt x="1863585" y="723579"/>
                    <a:pt x="1845762" y="715414"/>
                  </a:cubicBezTo>
                  <a:cubicBezTo>
                    <a:pt x="1827940" y="707249"/>
                    <a:pt x="1814866" y="696682"/>
                    <a:pt x="1806539" y="683714"/>
                  </a:cubicBezTo>
                  <a:cubicBezTo>
                    <a:pt x="1798212" y="670746"/>
                    <a:pt x="1792442" y="653215"/>
                    <a:pt x="1789228" y="631121"/>
                  </a:cubicBezTo>
                  <a:cubicBezTo>
                    <a:pt x="1786599" y="615431"/>
                    <a:pt x="1785284" y="583731"/>
                    <a:pt x="1785284" y="536020"/>
                  </a:cubicBezTo>
                  <a:cubicBezTo>
                    <a:pt x="1785284" y="461893"/>
                    <a:pt x="1785284" y="387766"/>
                    <a:pt x="1785284" y="313639"/>
                  </a:cubicBezTo>
                  <a:cubicBezTo>
                    <a:pt x="1766439" y="313639"/>
                    <a:pt x="1747594" y="313639"/>
                    <a:pt x="1728750" y="313639"/>
                  </a:cubicBezTo>
                  <a:cubicBezTo>
                    <a:pt x="1728750" y="277776"/>
                    <a:pt x="1728750" y="241914"/>
                    <a:pt x="1728750" y="206051"/>
                  </a:cubicBezTo>
                  <a:cubicBezTo>
                    <a:pt x="1747594" y="206051"/>
                    <a:pt x="1766439" y="206051"/>
                    <a:pt x="1785284" y="206051"/>
                  </a:cubicBezTo>
                  <a:cubicBezTo>
                    <a:pt x="1785284" y="172269"/>
                    <a:pt x="1785284" y="138488"/>
                    <a:pt x="1785284" y="104707"/>
                  </a:cubicBezTo>
                  <a:cubicBezTo>
                    <a:pt x="1826479" y="78450"/>
                    <a:pt x="1867675" y="52193"/>
                    <a:pt x="1908870" y="25937"/>
                  </a:cubicBezTo>
                  <a:close/>
                  <a:moveTo>
                    <a:pt x="300640" y="0"/>
                  </a:moveTo>
                  <a:cubicBezTo>
                    <a:pt x="379232" y="0"/>
                    <a:pt x="443071" y="25456"/>
                    <a:pt x="492155" y="76369"/>
                  </a:cubicBezTo>
                  <a:cubicBezTo>
                    <a:pt x="521371" y="106468"/>
                    <a:pt x="543284" y="149695"/>
                    <a:pt x="557892" y="206051"/>
                  </a:cubicBezTo>
                  <a:cubicBezTo>
                    <a:pt x="515090" y="217258"/>
                    <a:pt x="472287" y="228465"/>
                    <a:pt x="429485" y="239672"/>
                  </a:cubicBezTo>
                  <a:cubicBezTo>
                    <a:pt x="421889" y="203169"/>
                    <a:pt x="406039" y="174351"/>
                    <a:pt x="381935" y="153217"/>
                  </a:cubicBezTo>
                  <a:cubicBezTo>
                    <a:pt x="357831" y="132084"/>
                    <a:pt x="328541" y="121517"/>
                    <a:pt x="294066" y="121517"/>
                  </a:cubicBezTo>
                  <a:cubicBezTo>
                    <a:pt x="246443" y="121517"/>
                    <a:pt x="207804" y="140249"/>
                    <a:pt x="178149" y="177713"/>
                  </a:cubicBezTo>
                  <a:cubicBezTo>
                    <a:pt x="148494" y="215177"/>
                    <a:pt x="133666" y="275855"/>
                    <a:pt x="133666" y="359748"/>
                  </a:cubicBezTo>
                  <a:cubicBezTo>
                    <a:pt x="133666" y="448765"/>
                    <a:pt x="148275" y="512165"/>
                    <a:pt x="177491" y="549949"/>
                  </a:cubicBezTo>
                  <a:cubicBezTo>
                    <a:pt x="206708" y="587733"/>
                    <a:pt x="244690" y="606625"/>
                    <a:pt x="291436" y="606625"/>
                  </a:cubicBezTo>
                  <a:cubicBezTo>
                    <a:pt x="325912" y="606625"/>
                    <a:pt x="355567" y="594617"/>
                    <a:pt x="380401" y="570602"/>
                  </a:cubicBezTo>
                  <a:cubicBezTo>
                    <a:pt x="405235" y="546587"/>
                    <a:pt x="423057" y="508803"/>
                    <a:pt x="433867" y="457250"/>
                  </a:cubicBezTo>
                  <a:cubicBezTo>
                    <a:pt x="475793" y="471820"/>
                    <a:pt x="517719" y="486389"/>
                    <a:pt x="559645" y="500958"/>
                  </a:cubicBezTo>
                  <a:cubicBezTo>
                    <a:pt x="540362" y="577807"/>
                    <a:pt x="508297" y="634883"/>
                    <a:pt x="463449" y="672187"/>
                  </a:cubicBezTo>
                  <a:cubicBezTo>
                    <a:pt x="418602" y="709490"/>
                    <a:pt x="361702" y="728142"/>
                    <a:pt x="292751" y="728142"/>
                  </a:cubicBezTo>
                  <a:cubicBezTo>
                    <a:pt x="207438" y="728142"/>
                    <a:pt x="137318" y="696202"/>
                    <a:pt x="82391" y="632321"/>
                  </a:cubicBezTo>
                  <a:cubicBezTo>
                    <a:pt x="27464" y="568441"/>
                    <a:pt x="0" y="481105"/>
                    <a:pt x="0" y="370315"/>
                  </a:cubicBezTo>
                  <a:cubicBezTo>
                    <a:pt x="0" y="253121"/>
                    <a:pt x="27610" y="162103"/>
                    <a:pt x="82829" y="97262"/>
                  </a:cubicBezTo>
                  <a:cubicBezTo>
                    <a:pt x="138049" y="32421"/>
                    <a:pt x="210652" y="0"/>
                    <a:pt x="3006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/>
            </a:p>
          </p:txBody>
        </p: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Word常用功能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4d68c0ee-dd96-40a0-bc2c-e90b1c22e2ce.source.5.zh-Hans.pptx" descr="a180e2f9-e9ca-49f5-8c6d-15f42389e6b0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54" name="Title" descr="2ccadfcf-94f0-4238-9c46-d2b4ebcea0ab"/>
            <p:cNvSpPr/>
            <p:nvPr/>
          </p:nvSpPr>
          <p:spPr>
            <a:xfrm>
              <a:off x="660400" y="1130300"/>
              <a:ext cx="10858500" cy="497316"/>
            </a:xfrm>
            <a:prstGeom prst="rect">
              <a:avLst/>
            </a:prstGeom>
          </p:spPr>
          <p:txBody>
            <a:bodyPr wrap="square" anchorCtr="0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掌握Excel中的数据分析和图表制作功能</a:t>
              </a:r>
              <a:endParaRPr lang="en-US" sz="2400" b="1" i="0" u="none">
                <a:solidFill>
                  <a:srgbClr val="000000"/>
                </a:solidFill>
                <a:ea typeface="微软雅黑"/>
              </a:endParaRPr>
            </a:p>
          </p:txBody>
        </p:sp>
        <p:grpSp>
          <p:nvGrpSpPr>
            <p:cNvPr id="7" name="组合 6" descr="aa954a8c-573e-4921-a964-8edeada27f98"/>
            <p:cNvGrpSpPr/>
            <p:nvPr/>
          </p:nvGrpSpPr>
          <p:grpSpPr>
            <a:xfrm>
              <a:off x="810920" y="1955709"/>
              <a:ext cx="1781701" cy="4178391"/>
              <a:chOff x="810920" y="1955709"/>
              <a:chExt cx="1781701" cy="4178391"/>
            </a:xfrm>
          </p:grpSpPr>
          <p:sp>
            <p:nvSpPr>
              <p:cNvPr id="45" name="ComponentBackground1" descr="d1727a49-d5d0-4fc7-bb04-630b2824d3e4"/>
              <p:cNvSpPr/>
              <p:nvPr/>
            </p:nvSpPr>
            <p:spPr>
              <a:xfrm>
                <a:off x="821936" y="1955709"/>
                <a:ext cx="1770685" cy="41783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4" name="Shape1" descr="caf51526-13ad-41e3-983d-06eba1856be1"/>
              <p:cNvSpPr/>
              <p:nvPr/>
            </p:nvSpPr>
            <p:spPr>
              <a:xfrm rot="16200000">
                <a:off x="1156397" y="1864211"/>
                <a:ext cx="1057693" cy="1748648"/>
              </a:xfrm>
              <a:prstGeom prst="can">
                <a:avLst/>
              </a:pr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20" name="Bullet1" descr="3f435615-3f4c-4938-bd58-bc22598d9e0f"/>
              <p:cNvSpPr txBox="1"/>
              <p:nvPr/>
            </p:nvSpPr>
            <p:spPr>
              <a:xfrm>
                <a:off x="849477" y="3491866"/>
                <a:ext cx="1715595" cy="747831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 lnSpcReduction="10000"/>
              </a:bodyPr>
              <a:lstStyle/>
              <a:p>
                <a:pPr algn="l">
                  <a:lnSpc>
                    <a:spcPct val="117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数据录入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21" name="Text1" descr="5583aff1-f162-4b5a-9ae9-b2749818bfed"/>
              <p:cNvSpPr txBox="1"/>
              <p:nvPr/>
            </p:nvSpPr>
            <p:spPr>
              <a:xfrm>
                <a:off x="849479" y="4239696"/>
                <a:ext cx="1715595" cy="1449727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可在Excel的单元格中输入数据，支持数字、文本等类型，还可通过公式自动计算数据。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38" name="Number1" descr="a6c4d82a-7e7b-4325-82c1-6ad6c73903a1"/>
              <p:cNvSpPr/>
              <p:nvPr/>
            </p:nvSpPr>
            <p:spPr>
              <a:xfrm rot="16200000">
                <a:off x="1222458" y="1930272"/>
                <a:ext cx="1057693" cy="1616528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09 h 1931303"/>
                  <a:gd name="connsiteX2" fmla="*/ 1263650 w 1263650"/>
                  <a:gd name="connsiteY2" fmla="*/ 1773347 h 1931303"/>
                  <a:gd name="connsiteX3" fmla="*/ 631825 w 1263650"/>
                  <a:gd name="connsiteY3" fmla="*/ 1931303 h 1931303"/>
                  <a:gd name="connsiteX4" fmla="*/ 278566 w 1263650"/>
                  <a:gd name="connsiteY4" fmla="*/ 1904327 h 1931303"/>
                  <a:gd name="connsiteX5" fmla="*/ 0 w 1263650"/>
                  <a:gd name="connsiteY5" fmla="*/ 1773347 h 1931303"/>
                  <a:gd name="connsiteX6" fmla="*/ 0 w 1263650"/>
                  <a:gd name="connsiteY6" fmla="*/ 109 h 1931303"/>
                  <a:gd name="connsiteX7" fmla="*/ 0 w 1263650"/>
                  <a:gd name="connsiteY7" fmla="*/ 109 h 1931303"/>
                  <a:gd name="connsiteX8" fmla="*/ 44 w 1263650"/>
                  <a:gd name="connsiteY8" fmla="*/ 0 h 1931303"/>
                  <a:gd name="connsiteX9" fmla="*/ 12836 w 1263650"/>
                  <a:gd name="connsiteY9" fmla="*/ 31677 h 1931303"/>
                  <a:gd name="connsiteX10" fmla="*/ 631825 w 1263650"/>
                  <a:gd name="connsiteY10" fmla="*/ 157624 h 1931303"/>
                  <a:gd name="connsiteX11" fmla="*/ 1250814 w 1263650"/>
                  <a:gd name="connsiteY11" fmla="*/ 31677 h 1931303"/>
                  <a:gd name="connsiteX12" fmla="*/ 1263606 w 1263650"/>
                  <a:gd name="connsiteY12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09"/>
                    </a:ln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7"/>
                    </a:lnTo>
                    <a:cubicBezTo>
                      <a:pt x="71751" y="103555"/>
                      <a:pt x="326496" y="157624"/>
                      <a:pt x="631825" y="157624"/>
                    </a:cubicBezTo>
                    <a:cubicBezTo>
                      <a:pt x="937155" y="157624"/>
                      <a:pt x="1191899" y="103555"/>
                      <a:pt x="1250814" y="31677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8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2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3" name="组合 2" descr="1f9993d2-a5ed-4bf4-a499-4f23039f14cc"/>
            <p:cNvGrpSpPr/>
            <p:nvPr/>
          </p:nvGrpSpPr>
          <p:grpSpPr>
            <a:xfrm>
              <a:off x="3015876" y="1955709"/>
              <a:ext cx="1770685" cy="4178391"/>
              <a:chOff x="3015876" y="1955709"/>
              <a:chExt cx="1770685" cy="4178391"/>
            </a:xfrm>
          </p:grpSpPr>
          <p:sp>
            <p:nvSpPr>
              <p:cNvPr id="46" name="ComponentBackground2" descr="59400b71-0688-41f5-8ed7-1ad0a5778d9f"/>
              <p:cNvSpPr/>
              <p:nvPr/>
            </p:nvSpPr>
            <p:spPr>
              <a:xfrm>
                <a:off x="3015876" y="1955709"/>
                <a:ext cx="1770685" cy="4178391"/>
              </a:xfrm>
              <a:prstGeom prst="rect">
                <a:avLst/>
              </a:prstGeom>
              <a:gradFill flip="none" rotWithShape="1">
                <a:gsLst>
                  <a:gs pos="0">
                    <a:schemeClr val="dk2">
                      <a:lumMod val="100000"/>
                      <a:alpha val="0"/>
                    </a:schemeClr>
                  </a:gs>
                  <a:gs pos="100000">
                    <a:schemeClr val="dk2">
                      <a:lumMod val="100000"/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5" name="Shape2" descr="b495c777-c0aa-4727-b74b-32026190de15"/>
              <p:cNvSpPr/>
              <p:nvPr/>
            </p:nvSpPr>
            <p:spPr>
              <a:xfrm rot="16200000">
                <a:off x="3361356" y="1864211"/>
                <a:ext cx="1057693" cy="1748648"/>
              </a:xfrm>
              <a:prstGeom prst="can">
                <a:avLst/>
              </a:pr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9" name="Bullet2" descr="ba85a8ce-6be9-4ab3-805f-802488202d5a"/>
              <p:cNvSpPr txBox="1"/>
              <p:nvPr/>
            </p:nvSpPr>
            <p:spPr>
              <a:xfrm>
                <a:off x="3043421" y="3491866"/>
                <a:ext cx="1715596" cy="747831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 lnSpcReduction="10000"/>
              </a:bodyPr>
              <a:lstStyle/>
              <a:p>
                <a:pPr algn="l">
                  <a:lnSpc>
                    <a:spcPct val="117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公式计算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10" name="Text2" descr="8af75660-f993-424c-992b-c32dceeeab43"/>
              <p:cNvSpPr txBox="1"/>
              <p:nvPr/>
            </p:nvSpPr>
            <p:spPr>
              <a:xfrm>
                <a:off x="3043419" y="4239696"/>
                <a:ext cx="1715595" cy="1449727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使用内置函数如SUM、AVERAGE等进行数据计算，也可自定义公式进行复杂运算。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39" name="Number2" descr="860e63c0-6ad4-4322-abc2-146362109431"/>
              <p:cNvSpPr/>
              <p:nvPr/>
            </p:nvSpPr>
            <p:spPr>
              <a:xfrm rot="16200000">
                <a:off x="3427416" y="1930272"/>
                <a:ext cx="1057693" cy="1616528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6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5 w 1263650"/>
                  <a:gd name="connsiteY7" fmla="*/ 31678 h 1931303"/>
                  <a:gd name="connsiteX8" fmla="*/ 631825 w 1263650"/>
                  <a:gd name="connsiteY8" fmla="*/ 157625 h 1931303"/>
                  <a:gd name="connsiteX9" fmla="*/ 1250814 w 1263650"/>
                  <a:gd name="connsiteY9" fmla="*/ 31678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6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5" y="31678"/>
                    </a:lnTo>
                    <a:cubicBezTo>
                      <a:pt x="71751" y="103556"/>
                      <a:pt x="326495" y="157625"/>
                      <a:pt x="631825" y="157625"/>
                    </a:cubicBezTo>
                    <a:cubicBezTo>
                      <a:pt x="937154" y="157625"/>
                      <a:pt x="1191899" y="103556"/>
                      <a:pt x="1250814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8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2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5" name="组合 4" descr="c905a555-114e-4603-8b2e-00ed57dad6d3"/>
            <p:cNvGrpSpPr/>
            <p:nvPr/>
          </p:nvGrpSpPr>
          <p:grpSpPr>
            <a:xfrm>
              <a:off x="5209816" y="1955709"/>
              <a:ext cx="1770685" cy="4178391"/>
              <a:chOff x="5209816" y="1955709"/>
              <a:chExt cx="1770685" cy="4178391"/>
            </a:xfrm>
          </p:grpSpPr>
          <p:sp>
            <p:nvSpPr>
              <p:cNvPr id="47" name="ComponentBackground3" descr="fd68bb46-fc91-41f5-a1bd-7f293839679d"/>
              <p:cNvSpPr/>
              <p:nvPr/>
            </p:nvSpPr>
            <p:spPr>
              <a:xfrm>
                <a:off x="5209816" y="1955709"/>
                <a:ext cx="1770685" cy="41783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Shape3" descr="c9f1ffd0-50b8-49e5-aea2-2d31a451aa11"/>
              <p:cNvSpPr/>
              <p:nvPr/>
            </p:nvSpPr>
            <p:spPr>
              <a:xfrm rot="16200000">
                <a:off x="5566313" y="1864211"/>
                <a:ext cx="1057693" cy="1748648"/>
              </a:xfrm>
              <a:prstGeom prst="can">
                <a:avLst/>
              </a:pr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4" name="Bullet3" descr="771e8680-95c4-4ac5-a519-46c16460128e"/>
              <p:cNvSpPr txBox="1"/>
              <p:nvPr/>
            </p:nvSpPr>
            <p:spPr>
              <a:xfrm>
                <a:off x="5237357" y="3491866"/>
                <a:ext cx="1715595" cy="747831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 lnSpcReduction="10000"/>
              </a:bodyPr>
              <a:lstStyle/>
              <a:p>
                <a:pPr algn="l">
                  <a:lnSpc>
                    <a:spcPct val="117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图表制作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16" name="Text3" descr="caad45d6-c97d-4bfd-9b2e-18a956ebbf38"/>
              <p:cNvSpPr txBox="1"/>
              <p:nvPr/>
            </p:nvSpPr>
            <p:spPr>
              <a:xfrm>
                <a:off x="5237359" y="4239696"/>
                <a:ext cx="1715595" cy="1449727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根据数据可制作柱状图、折线图、饼图等图表，直观展示数据趋势和关系。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40" name="Number3" descr="a98ba73a-60ee-4c90-94dd-e1aa58499646"/>
              <p:cNvSpPr/>
              <p:nvPr/>
            </p:nvSpPr>
            <p:spPr>
              <a:xfrm rot="16200000">
                <a:off x="5632373" y="1930272"/>
                <a:ext cx="1057693" cy="1616528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7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6 w 1263650"/>
                  <a:gd name="connsiteY7" fmla="*/ 31679 h 1931303"/>
                  <a:gd name="connsiteX8" fmla="*/ 631825 w 1263650"/>
                  <a:gd name="connsiteY8" fmla="*/ 157625 h 1931303"/>
                  <a:gd name="connsiteX9" fmla="*/ 1250815 w 1263650"/>
                  <a:gd name="connsiteY9" fmla="*/ 31679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9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9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8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2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" name="组合 1" descr="a59046ba-7e3e-4c6d-ac07-27149c0ce860"/>
            <p:cNvGrpSpPr/>
            <p:nvPr/>
          </p:nvGrpSpPr>
          <p:grpSpPr>
            <a:xfrm>
              <a:off x="7425791" y="1955709"/>
              <a:ext cx="1748651" cy="4178391"/>
              <a:chOff x="7425791" y="1955709"/>
              <a:chExt cx="1748651" cy="4178391"/>
            </a:xfrm>
          </p:grpSpPr>
          <p:sp>
            <p:nvSpPr>
              <p:cNvPr id="48" name="ComponentBackground4" descr="b620b46f-bb7f-47c6-bc47-9c15d4069868"/>
              <p:cNvSpPr/>
              <p:nvPr/>
            </p:nvSpPr>
            <p:spPr>
              <a:xfrm>
                <a:off x="7425791" y="1955709"/>
                <a:ext cx="1748650" cy="4178391"/>
              </a:xfrm>
              <a:prstGeom prst="rect">
                <a:avLst/>
              </a:prstGeom>
              <a:gradFill flip="none" rotWithShape="1">
                <a:gsLst>
                  <a:gs pos="0">
                    <a:schemeClr val="dk2">
                      <a:lumMod val="100000"/>
                      <a:alpha val="0"/>
                    </a:schemeClr>
                  </a:gs>
                  <a:gs pos="100000">
                    <a:schemeClr val="dk2">
                      <a:lumMod val="100000"/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9" name="Shape4" descr="9debcd1b-e562-431d-84e5-1d2f46659ece"/>
              <p:cNvSpPr/>
              <p:nvPr/>
            </p:nvSpPr>
            <p:spPr>
              <a:xfrm rot="16200000">
                <a:off x="7771271" y="1864211"/>
                <a:ext cx="1057693" cy="1748648"/>
              </a:xfrm>
              <a:prstGeom prst="can">
                <a:avLst/>
              </a:pr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56" name="Bullet4" descr="e752b4e7-54e3-4327-a535-fe0b9c78170b"/>
              <p:cNvSpPr txBox="1"/>
              <p:nvPr/>
            </p:nvSpPr>
            <p:spPr>
              <a:xfrm>
                <a:off x="7442318" y="3491866"/>
                <a:ext cx="1715596" cy="747831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 lnSpcReduction="10000"/>
              </a:bodyPr>
              <a:lstStyle/>
              <a:p>
                <a:pPr algn="l">
                  <a:lnSpc>
                    <a:spcPct val="117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数据筛选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57" name="Text4" descr="2e955837-6be6-4482-b7b4-fda4295de955"/>
              <p:cNvSpPr txBox="1"/>
              <p:nvPr/>
            </p:nvSpPr>
            <p:spPr>
              <a:xfrm>
                <a:off x="7442320" y="4239696"/>
                <a:ext cx="1715596" cy="1449727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可按条件筛选数据，只显示符合要求的记录，方便用户快速查找和分析数据。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41" name="Number4" descr="c45869f7-0ec1-49a2-a04f-5d2dac8c712c"/>
              <p:cNvSpPr/>
              <p:nvPr/>
            </p:nvSpPr>
            <p:spPr>
              <a:xfrm rot="16200000">
                <a:off x="7837331" y="1930272"/>
                <a:ext cx="1057693" cy="1616528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7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6 w 1263650"/>
                  <a:gd name="connsiteY7" fmla="*/ 31678 h 1931303"/>
                  <a:gd name="connsiteX8" fmla="*/ 631825 w 1263650"/>
                  <a:gd name="connsiteY8" fmla="*/ 157625 h 1931303"/>
                  <a:gd name="connsiteX9" fmla="*/ 1250815 w 1263650"/>
                  <a:gd name="connsiteY9" fmla="*/ 31678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8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800" b="1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2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1" name="组合 10" descr="8975a544-5196-4fe4-b05c-81e2fac17d00"/>
            <p:cNvGrpSpPr/>
            <p:nvPr/>
          </p:nvGrpSpPr>
          <p:grpSpPr>
            <a:xfrm>
              <a:off x="9619732" y="1942918"/>
              <a:ext cx="1748650" cy="4178391"/>
              <a:chOff x="9619732" y="1942918"/>
              <a:chExt cx="1748650" cy="4178391"/>
            </a:xfrm>
          </p:grpSpPr>
          <p:sp>
            <p:nvSpPr>
              <p:cNvPr id="23" name="ComponentBackground5" descr="80d9ec38-d0cb-4392-b6ed-6b920a7155f3"/>
              <p:cNvSpPr/>
              <p:nvPr/>
            </p:nvSpPr>
            <p:spPr>
              <a:xfrm>
                <a:off x="9619732" y="1942918"/>
                <a:ext cx="1748650" cy="41783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24" name="Shape5" descr="83b271a3-c8f3-44b1-8f06-bed36005f71c"/>
              <p:cNvSpPr/>
              <p:nvPr/>
            </p:nvSpPr>
            <p:spPr>
              <a:xfrm rot="16200000">
                <a:off x="9965211" y="1851420"/>
                <a:ext cx="1057693" cy="1748648"/>
              </a:xfrm>
              <a:prstGeom prst="can">
                <a:avLst/>
              </a:pr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34" name="Bullet5" descr="e0001694-165a-4867-bd9e-dd182667d966"/>
              <p:cNvSpPr txBox="1"/>
              <p:nvPr/>
            </p:nvSpPr>
            <p:spPr>
              <a:xfrm>
                <a:off x="9636260" y="3479075"/>
                <a:ext cx="1715596" cy="747831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 lnSpcReduction="10000"/>
              </a:bodyPr>
              <a:lstStyle/>
              <a:p>
                <a:pPr algn="l">
                  <a:lnSpc>
                    <a:spcPct val="117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条件格式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35" name="Text5" descr="629a2d4c-a2ec-4625-b305-7cebd82b07d8"/>
              <p:cNvSpPr txBox="1"/>
              <p:nvPr/>
            </p:nvSpPr>
            <p:spPr>
              <a:xfrm>
                <a:off x="9636259" y="4226905"/>
                <a:ext cx="1715596" cy="1449727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可根据数据的值设置不同的格式，如突出显示最大值、最小值等，让数据更易于理解。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25" name="Number5" descr="3d264ef5-2a3d-4f04-9c88-a88bebe9577e"/>
              <p:cNvSpPr/>
              <p:nvPr/>
            </p:nvSpPr>
            <p:spPr>
              <a:xfrm rot="16200000">
                <a:off x="10031271" y="1917481"/>
                <a:ext cx="1057693" cy="1616528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7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6 w 1263650"/>
                  <a:gd name="connsiteY7" fmla="*/ 31678 h 1931303"/>
                  <a:gd name="connsiteX8" fmla="*/ 631825 w 1263650"/>
                  <a:gd name="connsiteY8" fmla="*/ 157625 h 1931303"/>
                  <a:gd name="connsiteX9" fmla="*/ 1250815 w 1263650"/>
                  <a:gd name="connsiteY9" fmla="*/ 31678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8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800" b="1" i="0" u="none">
                    <a:solidFill>
                      <a:srgbClr val="FFFFFF"/>
                    </a:solidFill>
                    <a:latin typeface="Arial" panose="020B0604020202020204"/>
                  </a:rPr>
                  <a:t>05</a:t>
                </a:r>
                <a:endParaRPr lang="en-US" sz="2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6" name="标题 5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Excel常用功能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fadfb565-745d-44d6-af11-209a41c893f2.source.5.zh-Hans.pptx" descr="2e821413-1f4e-4671-95f9-0feb540d9f51"/>
          <p:cNvGrpSpPr/>
          <p:nvPr/>
        </p:nvGrpSpPr>
        <p:grpSpPr>
          <a:xfrm>
            <a:off x="0" y="1130299"/>
            <a:ext cx="12192000" cy="5727703"/>
            <a:chOff x="0" y="1130299"/>
            <a:chExt cx="12192000" cy="5727703"/>
          </a:xfrm>
        </p:grpSpPr>
        <p:grpSp>
          <p:nvGrpSpPr>
            <p:cNvPr id="40" name="组合 39" descr="bb290428-5718-4bfd-b6a9-2582f57de381"/>
            <p:cNvGrpSpPr/>
            <p:nvPr/>
          </p:nvGrpSpPr>
          <p:grpSpPr>
            <a:xfrm>
              <a:off x="660400" y="3458946"/>
              <a:ext cx="2171695" cy="3399054"/>
              <a:chOff x="660400" y="3458946"/>
              <a:chExt cx="2171695" cy="3399054"/>
            </a:xfrm>
          </p:grpSpPr>
          <p:sp>
            <p:nvSpPr>
              <p:cNvPr id="3" name="ComponentBackground1" descr="2928b160-2482-4540-947f-44929849c1a1"/>
              <p:cNvSpPr/>
              <p:nvPr/>
            </p:nvSpPr>
            <p:spPr>
              <a:xfrm>
                <a:off x="660400" y="3458947"/>
                <a:ext cx="2171695" cy="3399053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4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8" name="组合 7" descr="21215337-5eaa-4fb0-b544-8fe6ba0f4d3c"/>
              <p:cNvGrpSpPr/>
              <p:nvPr/>
            </p:nvGrpSpPr>
            <p:grpSpPr>
              <a:xfrm>
                <a:off x="660401" y="3458946"/>
                <a:ext cx="2069002" cy="2840253"/>
                <a:chOff x="1219201" y="3225799"/>
                <a:chExt cx="2504580" cy="3249195"/>
              </a:xfrm>
            </p:grpSpPr>
            <p:grpSp>
              <p:nvGrpSpPr>
                <p:cNvPr id="33" name="组合 32" descr="f1c1941d-85a4-40a5-97fe-02b032409b2e"/>
                <p:cNvGrpSpPr/>
                <p:nvPr/>
              </p:nvGrpSpPr>
              <p:grpSpPr>
                <a:xfrm>
                  <a:off x="1219201" y="3225799"/>
                  <a:ext cx="2504580" cy="3249195"/>
                  <a:chOff x="1092200" y="2332909"/>
                  <a:chExt cx="3492139" cy="4530355"/>
                </a:xfrm>
              </p:grpSpPr>
              <p:sp>
                <p:nvSpPr>
                  <p:cNvPr id="35" name="Number1" descr="8959db21-3228-4ffe-b0bc-6a8047944e47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prstGeom prst="homePlate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180000" bIns="45720" rtlCol="0" anchor="ctr" anchorCtr="0">
                    <a:normAutofit/>
                  </a:bodyPr>
                  <a:lstStyle/>
                  <a:p>
                    <a:pPr algn="ctr"/>
                    <a:r>
                      <a:rPr lang="en-US" sz="2400" b="1" i="0" u="none">
                        <a:solidFill>
                          <a:srgbClr val="FFFFFF"/>
                        </a:solidFill>
                        <a:latin typeface="Arial" panose="020B0604020202020204"/>
                      </a:rPr>
                      <a:t>01</a:t>
                    </a:r>
                    <a:endParaRPr lang="en-US" sz="2400" b="1" i="0" u="none">
                      <a:solidFill>
                        <a:srgbClr val="FFFFFF"/>
                      </a:solidFill>
                      <a:latin typeface="Arial" panose="020B0604020202020204"/>
                    </a:endParaRPr>
                  </a:p>
                </p:txBody>
              </p:sp>
              <p:sp>
                <p:nvSpPr>
                  <p:cNvPr id="36" name="Bullet1" descr="d886a4ed-ee94-413e-ae4b-322319ac9cbf"/>
                  <p:cNvSpPr txBox="1"/>
                  <p:nvPr/>
                </p:nvSpPr>
                <p:spPr>
                  <a:xfrm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800" b="1" i="0" u="none" strike="noStrike">
                        <a:solidFill>
                          <a:srgbClr val="000000"/>
                        </a:solidFill>
                        <a:ea typeface="微软雅黑"/>
                      </a:rPr>
                      <a:t>幻灯片创建</a:t>
                    </a:r>
                    <a:endParaRPr lang="en-US" sz="1800" b="1" i="0" u="none" strike="noStrik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  <p:sp>
                <p:nvSpPr>
                  <p:cNvPr id="37" name="Text1" descr="59ad1cf9-6339-4829-8a0d-6b4c4b0be7ca"/>
                  <p:cNvSpPr txBox="1"/>
                  <p:nvPr/>
                </p:nvSpPr>
                <p:spPr>
                  <a:xfrm>
                    <a:off x="1166770" y="4949524"/>
                    <a:ext cx="3417569" cy="19137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可新建空白幻灯片，选择不同的版式，快速搭建幻灯片框架。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</p:grpSp>
            <p:sp>
              <p:nvSpPr>
                <p:cNvPr id="34" name="箭头: 右 33" descr="cc66744b-e7f2-4f77-8b54-c4268734139f"/>
                <p:cNvSpPr/>
                <p:nvPr/>
              </p:nvSpPr>
              <p:spPr>
                <a:xfrm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w="63500" cap="rnd">
                  <a:noFill/>
                  <a:headEnd type="none"/>
                  <a:tailEnd type="triangle" w="lg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</a:p>
              </p:txBody>
            </p:sp>
          </p:grpSp>
        </p:grpSp>
        <p:grpSp>
          <p:nvGrpSpPr>
            <p:cNvPr id="41" name="组合 40" descr="2a6391a4-1da3-4c3a-bdcd-e703d91cf360"/>
            <p:cNvGrpSpPr/>
            <p:nvPr/>
          </p:nvGrpSpPr>
          <p:grpSpPr>
            <a:xfrm>
              <a:off x="2832101" y="2961593"/>
              <a:ext cx="2171695" cy="3896407"/>
              <a:chOff x="2832101" y="2961593"/>
              <a:chExt cx="2171695" cy="3896407"/>
            </a:xfrm>
          </p:grpSpPr>
          <p:sp>
            <p:nvSpPr>
              <p:cNvPr id="4" name="ComponentBackground2" descr="f3211011-58a3-4483-8bd9-979576cb1da2"/>
              <p:cNvSpPr/>
              <p:nvPr/>
            </p:nvSpPr>
            <p:spPr>
              <a:xfrm>
                <a:off x="2832101" y="2961595"/>
                <a:ext cx="2171695" cy="3896405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4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9" name="组合 8" descr="1aeb24d4-fd5c-469b-bbfb-1945ebc6f469"/>
              <p:cNvGrpSpPr/>
              <p:nvPr/>
            </p:nvGrpSpPr>
            <p:grpSpPr>
              <a:xfrm>
                <a:off x="2832102" y="2961593"/>
                <a:ext cx="2069002" cy="3337605"/>
                <a:chOff x="1219201" y="3225799"/>
                <a:chExt cx="2504580" cy="3818156"/>
              </a:xfrm>
            </p:grpSpPr>
            <p:grpSp>
              <p:nvGrpSpPr>
                <p:cNvPr id="28" name="组合 27" descr="88b29ec2-695d-4080-8e88-af1347232e9d"/>
                <p:cNvGrpSpPr/>
                <p:nvPr/>
              </p:nvGrpSpPr>
              <p:grpSpPr>
                <a:xfrm>
                  <a:off x="1219201" y="3225799"/>
                  <a:ext cx="2504580" cy="3818156"/>
                  <a:chOff x="1092200" y="2332909"/>
                  <a:chExt cx="3492139" cy="5323658"/>
                </a:xfrm>
              </p:grpSpPr>
              <p:sp>
                <p:nvSpPr>
                  <p:cNvPr id="30" name="Number2" descr="3c3ea0c2-9ca4-43da-b02e-515dd4747717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prstGeom prst="homePlat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7500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noFill/>
                  </a:ln>
                  <a:effectLst>
                    <a:outerShdw blurRad="127000" dist="63500" dir="2700000" algn="tl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 anchorCtr="0">
                    <a:normAutofit/>
                  </a:bodyPr>
                  <a:lstStyle/>
                  <a:p>
                    <a:pPr algn="ctr"/>
                    <a:r>
                      <a:rPr lang="en-US" sz="2400" b="1" i="0" u="none">
                        <a:solidFill>
                          <a:srgbClr val="FFFFFF"/>
                        </a:solidFill>
                        <a:latin typeface="Arial" panose="020B0604020202020204"/>
                      </a:rPr>
                      <a:t>02</a:t>
                    </a:r>
                    <a:endParaRPr lang="en-US" sz="2400" b="1" i="0" u="none">
                      <a:solidFill>
                        <a:srgbClr val="FFFFFF"/>
                      </a:solidFill>
                      <a:latin typeface="Arial" panose="020B0604020202020204"/>
                    </a:endParaRPr>
                  </a:p>
                </p:txBody>
              </p:sp>
              <p:sp>
                <p:nvSpPr>
                  <p:cNvPr id="31" name="Bullet2" descr="cccea80d-6a24-4006-bce8-a0a2b7faf46a"/>
                  <p:cNvSpPr txBox="1"/>
                  <p:nvPr/>
                </p:nvSpPr>
                <p:spPr>
                  <a:xfrm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800" b="1" i="0" u="none" strike="noStrike">
                        <a:solidFill>
                          <a:srgbClr val="000000"/>
                        </a:solidFill>
                        <a:ea typeface="微软雅黑"/>
                      </a:rPr>
                      <a:t>内容编辑</a:t>
                    </a:r>
                    <a:endParaRPr lang="en-US" sz="1800" b="1" i="0" u="none" strike="noStrik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  <p:sp>
                <p:nvSpPr>
                  <p:cNvPr id="32" name="Text2" descr="c6f80aaf-6cb2-4536-aae9-d312a2a54c4d"/>
                  <p:cNvSpPr txBox="1"/>
                  <p:nvPr/>
                </p:nvSpPr>
                <p:spPr>
                  <a:xfrm>
                    <a:off x="1166770" y="4949522"/>
                    <a:ext cx="3417569" cy="270704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在幻灯片中可输入文字、插入图片、视频等内容，丰富幻灯片的内容。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</p:grpSp>
            <p:sp>
              <p:nvSpPr>
                <p:cNvPr id="29" name="箭头: 右 28" descr="fe5ab275-c83a-44bb-a0bb-67e562171237"/>
                <p:cNvSpPr/>
                <p:nvPr/>
              </p:nvSpPr>
              <p:spPr>
                <a:xfrm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w="63500" cap="rnd">
                  <a:noFill/>
                  <a:headEnd type="none"/>
                  <a:tailEnd type="triangle" w="lg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</a:p>
              </p:txBody>
            </p:sp>
          </p:grpSp>
        </p:grpSp>
        <p:grpSp>
          <p:nvGrpSpPr>
            <p:cNvPr id="42" name="组合 41" descr="6e3f44a5-1628-4950-bc6e-176b3f2524db"/>
            <p:cNvGrpSpPr/>
            <p:nvPr/>
          </p:nvGrpSpPr>
          <p:grpSpPr>
            <a:xfrm>
              <a:off x="5003802" y="2464240"/>
              <a:ext cx="2171695" cy="4393761"/>
              <a:chOff x="5003802" y="2464240"/>
              <a:chExt cx="2171695" cy="4393761"/>
            </a:xfrm>
          </p:grpSpPr>
          <p:sp>
            <p:nvSpPr>
              <p:cNvPr id="5" name="ComponentBackground3" descr="09bc59a4-9662-401b-bb84-3ba5fdeb253d"/>
              <p:cNvSpPr/>
              <p:nvPr/>
            </p:nvSpPr>
            <p:spPr>
              <a:xfrm>
                <a:off x="5003802" y="2464243"/>
                <a:ext cx="2171695" cy="4393758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4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10" name="组合 9" descr="44b99755-76fe-4640-a98b-fed540bace2b"/>
              <p:cNvGrpSpPr/>
              <p:nvPr/>
            </p:nvGrpSpPr>
            <p:grpSpPr>
              <a:xfrm>
                <a:off x="5003803" y="2464240"/>
                <a:ext cx="2069002" cy="3834959"/>
                <a:chOff x="1219201" y="3225799"/>
                <a:chExt cx="2504580" cy="4387120"/>
              </a:xfrm>
            </p:grpSpPr>
            <p:grpSp>
              <p:nvGrpSpPr>
                <p:cNvPr id="23" name="组合 22" descr="b4dc185a-af2f-4e59-9afb-f30f0e0375d5"/>
                <p:cNvGrpSpPr/>
                <p:nvPr/>
              </p:nvGrpSpPr>
              <p:grpSpPr>
                <a:xfrm>
                  <a:off x="1219201" y="3225799"/>
                  <a:ext cx="2504580" cy="4387120"/>
                  <a:chOff x="1092200" y="2332909"/>
                  <a:chExt cx="3492139" cy="6116964"/>
                </a:xfrm>
              </p:grpSpPr>
              <p:sp>
                <p:nvSpPr>
                  <p:cNvPr id="25" name="Number3" descr="16862096-e085-4366-8703-61703a10bf0d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prstGeom prst="homePlate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blurRad="127000" dist="63500" dir="2700000" algn="tl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180000" bIns="45720" rtlCol="0" anchor="ctr" anchorCtr="0">
                    <a:normAutofit/>
                  </a:bodyPr>
                  <a:lstStyle/>
                  <a:p>
                    <a:pPr algn="ctr"/>
                    <a:r>
                      <a:rPr lang="en-US" sz="2400" b="1" i="0" u="none">
                        <a:solidFill>
                          <a:srgbClr val="FFFFFF"/>
                        </a:solidFill>
                        <a:latin typeface="Arial" panose="020B0604020202020204"/>
                      </a:rPr>
                      <a:t>03</a:t>
                    </a:r>
                    <a:endParaRPr lang="en-US" sz="2400" b="1" i="0" u="none">
                      <a:solidFill>
                        <a:srgbClr val="FFFFFF"/>
                      </a:solidFill>
                      <a:latin typeface="Arial" panose="020B0604020202020204"/>
                    </a:endParaRPr>
                  </a:p>
                </p:txBody>
              </p:sp>
              <p:sp>
                <p:nvSpPr>
                  <p:cNvPr id="26" name="Bullet3" descr="a79603b0-3776-4815-9f90-feaac4196efc"/>
                  <p:cNvSpPr txBox="1"/>
                  <p:nvPr/>
                </p:nvSpPr>
                <p:spPr>
                  <a:xfrm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800" b="1" i="0" u="none" strike="noStrike">
                        <a:solidFill>
                          <a:srgbClr val="000000"/>
                        </a:solidFill>
                        <a:ea typeface="微软雅黑"/>
                      </a:rPr>
                      <a:t>动画设置</a:t>
                    </a:r>
                    <a:endParaRPr lang="en-US" sz="1800" b="1" i="0" u="none" strike="noStrik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  <p:sp>
                <p:nvSpPr>
                  <p:cNvPr id="27" name="Text3" descr="066bb5ba-57ec-4d94-9bda-45b164840e4a"/>
                  <p:cNvSpPr txBox="1"/>
                  <p:nvPr/>
                </p:nvSpPr>
                <p:spPr>
                  <a:xfrm>
                    <a:off x="1166770" y="4949524"/>
                    <a:ext cx="3417569" cy="35003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为文字、图片等元素添加动画效果，如淡入、飞出等，增加展示的趣味性。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</p:grpSp>
            <p:sp>
              <p:nvSpPr>
                <p:cNvPr id="24" name="箭头: 右 23" descr="936c702d-b305-4bfd-8a95-9a2f19b1d086"/>
                <p:cNvSpPr/>
                <p:nvPr/>
              </p:nvSpPr>
              <p:spPr>
                <a:xfrm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w="63500" cap="rnd">
                  <a:noFill/>
                  <a:headEnd type="none"/>
                  <a:tailEnd type="triangle" w="lg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</a:p>
              </p:txBody>
            </p:sp>
          </p:grpSp>
        </p:grpSp>
        <p:grpSp>
          <p:nvGrpSpPr>
            <p:cNvPr id="43" name="组合 42" descr="29fc8d6d-3920-43d5-9c25-5a4b9852b766"/>
            <p:cNvGrpSpPr/>
            <p:nvPr/>
          </p:nvGrpSpPr>
          <p:grpSpPr>
            <a:xfrm>
              <a:off x="7175503" y="1966887"/>
              <a:ext cx="2171695" cy="4891113"/>
              <a:chOff x="7175503" y="1966887"/>
              <a:chExt cx="2171695" cy="4891113"/>
            </a:xfrm>
          </p:grpSpPr>
          <p:sp>
            <p:nvSpPr>
              <p:cNvPr id="6" name="ComponentBackground4" descr="09d80109-5bf6-41d9-a1c8-655aff0b73f2"/>
              <p:cNvSpPr/>
              <p:nvPr/>
            </p:nvSpPr>
            <p:spPr>
              <a:xfrm>
                <a:off x="7175503" y="1966889"/>
                <a:ext cx="2171695" cy="4891111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4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11" name="组合 10" descr="c319005e-04cd-4d94-8f92-2c1ec0200598"/>
              <p:cNvGrpSpPr/>
              <p:nvPr/>
            </p:nvGrpSpPr>
            <p:grpSpPr>
              <a:xfrm>
                <a:off x="7175505" y="1966887"/>
                <a:ext cx="2069002" cy="4332311"/>
                <a:chOff x="1219201" y="3225799"/>
                <a:chExt cx="2504580" cy="4956081"/>
              </a:xfrm>
            </p:grpSpPr>
            <p:grpSp>
              <p:nvGrpSpPr>
                <p:cNvPr id="18" name="组合 17" descr="c3635d37-99e4-4bf8-a453-f32061fe535b"/>
                <p:cNvGrpSpPr/>
                <p:nvPr/>
              </p:nvGrpSpPr>
              <p:grpSpPr>
                <a:xfrm>
                  <a:off x="1219201" y="3225799"/>
                  <a:ext cx="2504580" cy="4956081"/>
                  <a:chOff x="1092200" y="2332909"/>
                  <a:chExt cx="3492139" cy="6910267"/>
                </a:xfrm>
              </p:grpSpPr>
              <p:sp>
                <p:nvSpPr>
                  <p:cNvPr id="20" name="Number4" descr="840473b5-b033-45ec-8776-5f10896557c6"/>
                  <p:cNvSpPr/>
                  <p:nvPr/>
                </p:nvSpPr>
                <p:spPr>
                  <a:xfrm>
                    <a:off x="1092200" y="2332909"/>
                    <a:ext cx="1912423" cy="1213757"/>
                  </a:xfrm>
                  <a:prstGeom prst="homePlat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7500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noFill/>
                  </a:ln>
                  <a:effectLst>
                    <a:outerShdw blurRad="127000" dist="63500" dir="2700000" algn="tl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 anchorCtr="0">
                    <a:normAutofit/>
                  </a:bodyPr>
                  <a:lstStyle/>
                  <a:p>
                    <a:pPr algn="ctr"/>
                    <a:r>
                      <a:rPr lang="en-US" sz="2400" b="1" i="0" u="none">
                        <a:solidFill>
                          <a:srgbClr val="FFFFFF"/>
                        </a:solidFill>
                        <a:latin typeface="Arial" panose="020B0604020202020204"/>
                      </a:rPr>
                      <a:t>04</a:t>
                    </a:r>
                    <a:endParaRPr lang="en-US" sz="2400" b="1" i="0" u="none">
                      <a:solidFill>
                        <a:srgbClr val="FFFFFF"/>
                      </a:solidFill>
                      <a:latin typeface="Arial" panose="020B0604020202020204"/>
                    </a:endParaRPr>
                  </a:p>
                </p:txBody>
              </p:sp>
              <p:sp>
                <p:nvSpPr>
                  <p:cNvPr id="21" name="Bullet4" descr="5b8272ac-492e-4c60-a2ef-d9d36eadae46"/>
                  <p:cNvSpPr txBox="1"/>
                  <p:nvPr/>
                </p:nvSpPr>
                <p:spPr>
                  <a:xfrm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800" b="1" i="0" u="none" strike="noStrike">
                        <a:solidFill>
                          <a:srgbClr val="000000"/>
                        </a:solidFill>
                        <a:ea typeface="微软雅黑"/>
                      </a:rPr>
                      <a:t>切换效果</a:t>
                    </a:r>
                    <a:endParaRPr lang="en-US" sz="1800" b="1" i="0" u="none" strike="noStrik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  <p:sp>
                <p:nvSpPr>
                  <p:cNvPr id="22" name="Text4" descr="93b775c4-734b-432c-8462-884279c584f3"/>
                  <p:cNvSpPr txBox="1"/>
                  <p:nvPr/>
                </p:nvSpPr>
                <p:spPr>
                  <a:xfrm>
                    <a:off x="1166770" y="4949522"/>
                    <a:ext cx="3417569" cy="42936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000000"/>
                        </a:solidFill>
                        <a:ea typeface="微软雅黑"/>
                      </a:rPr>
                      <a:t>设置幻灯片之间的切换效果，如擦除、溶解等，使展示更流畅。</a:t>
                    </a:r>
                    <a:endParaRPr lang="en-US" sz="1200" b="0" i="0" u="none">
                      <a:solidFill>
                        <a:srgbClr val="000000"/>
                      </a:solidFill>
                      <a:ea typeface="微软雅黑"/>
                    </a:endParaRPr>
                  </a:p>
                </p:txBody>
              </p:sp>
            </p:grpSp>
            <p:sp>
              <p:nvSpPr>
                <p:cNvPr id="19" name="箭头: 右 18" descr="c8e4358f-1b1c-4c6e-a03b-aef7c08d09d6"/>
                <p:cNvSpPr/>
                <p:nvPr/>
              </p:nvSpPr>
              <p:spPr>
                <a:xfrm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w="63500" cap="rnd">
                  <a:noFill/>
                  <a:headEnd type="none"/>
                  <a:tailEnd type="triangle" w="lg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</a:p>
              </p:txBody>
            </p:sp>
          </p:grpSp>
        </p:grpSp>
        <p:grpSp>
          <p:nvGrpSpPr>
            <p:cNvPr id="44" name="组合 43" descr="f385e97b-f9df-44a2-9444-663f45897f18"/>
            <p:cNvGrpSpPr/>
            <p:nvPr/>
          </p:nvGrpSpPr>
          <p:grpSpPr>
            <a:xfrm>
              <a:off x="9347205" y="1469536"/>
              <a:ext cx="2171695" cy="5388465"/>
              <a:chOff x="9347205" y="1469536"/>
              <a:chExt cx="2171695" cy="5388465"/>
            </a:xfrm>
          </p:grpSpPr>
          <p:sp>
            <p:nvSpPr>
              <p:cNvPr id="7" name="ComponentBackground5" descr="88bc9351-0d7a-4f4c-9f29-bfc42a52b5fe"/>
              <p:cNvSpPr/>
              <p:nvPr/>
            </p:nvSpPr>
            <p:spPr>
              <a:xfrm>
                <a:off x="9347205" y="1469537"/>
                <a:ext cx="2171695" cy="5388464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4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12" name="组合 11" descr="2e97b8f1-7c20-474e-923e-69fc9b360303"/>
              <p:cNvGrpSpPr/>
              <p:nvPr/>
            </p:nvGrpSpPr>
            <p:grpSpPr>
              <a:xfrm>
                <a:off x="9347205" y="1469536"/>
                <a:ext cx="2069002" cy="4829662"/>
                <a:chOff x="1092200" y="2332909"/>
                <a:chExt cx="3492139" cy="7703570"/>
              </a:xfrm>
            </p:grpSpPr>
            <p:sp>
              <p:nvSpPr>
                <p:cNvPr id="14" name="Number5" descr="59b5a255-8e88-4719-9e24-838003aa9694"/>
                <p:cNvSpPr/>
                <p:nvPr/>
              </p:nvSpPr>
              <p:spPr>
                <a:xfrm>
                  <a:off x="1092200" y="2332909"/>
                  <a:ext cx="1912423" cy="1213757"/>
                </a:xfrm>
                <a:prstGeom prst="homePlate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solidFill>
                    <a:schemeClr val="bg1"/>
                  </a:solidFill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180000" bIns="45720" rtlCol="0" anchor="ctr" anchorCtr="0">
                  <a:normAutofit/>
                </a:bodyPr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05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15" name="Bullet5" descr="c5a4a62c-9042-48e2-b3c1-d7afadd6b2c5"/>
                <p:cNvSpPr txBox="1"/>
                <p:nvPr/>
              </p:nvSpPr>
              <p:spPr>
                <a:xfrm>
                  <a:off x="1166770" y="3698747"/>
                  <a:ext cx="3417569" cy="12137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/>
                    </a:rPr>
                    <a:t>放映设置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/>
                  </a:endParaRPr>
                </a:p>
              </p:txBody>
            </p:sp>
            <p:sp>
              <p:nvSpPr>
                <p:cNvPr id="16" name="Text5" descr="8a88a7c8-edf9-4a79-9418-5ae024cb42be"/>
                <p:cNvSpPr txBox="1"/>
                <p:nvPr/>
              </p:nvSpPr>
              <p:spPr>
                <a:xfrm>
                  <a:off x="1166770" y="4949521"/>
                  <a:ext cx="3417569" cy="50869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000000"/>
                      </a:solidFill>
                      <a:ea typeface="微软雅黑"/>
                    </a:rPr>
                    <a:t>可设置放映方式、放映时间等，还可进行排练计时，确保演讲顺利进行。</a:t>
                  </a:r>
                  <a:endParaRPr lang="en-US" sz="1200" b="0" i="0" u="none">
                    <a:solidFill>
                      <a:srgbClr val="000000"/>
                    </a:solidFill>
                    <a:ea typeface="微软雅黑"/>
                  </a:endParaRPr>
                </a:p>
              </p:txBody>
            </p:sp>
            <p:cxnSp>
              <p:nvCxnSpPr>
                <p:cNvPr id="17" name="直接连接符 16" descr="2e4f4255-2215-45f2-90f5-861e37bec6b1"/>
                <p:cNvCxnSpPr/>
                <p:nvPr/>
              </p:nvCxnSpPr>
              <p:spPr>
                <a:xfrm>
                  <a:off x="1092200" y="2332909"/>
                  <a:ext cx="0" cy="3157382"/>
                </a:xfrm>
                <a:prstGeom prst="line">
                  <a:avLst/>
                </a:prstGeom>
                <a:ln>
                  <a:solidFill>
                    <a:schemeClr val="tx2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" name="Title" descr="0195ca96-4af9-446b-b32e-b1cf60d4764b"/>
            <p:cNvSpPr>
              <a:spLocks noChangeAspect="1"/>
            </p:cNvSpPr>
            <p:nvPr/>
          </p:nvSpPr>
          <p:spPr>
            <a:xfrm>
              <a:off x="660400" y="1130299"/>
              <a:ext cx="3784957" cy="12724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学会PowerPoint中的幻灯片制作和展示技巧</a:t>
              </a:r>
              <a:endParaRPr lang="en-US" sz="2400" b="1" i="0" u="none">
                <a:solidFill>
                  <a:srgbClr val="000000"/>
                </a:solidFill>
                <a:ea typeface="微软雅黑"/>
              </a:endParaRPr>
            </a:p>
          </p:txBody>
        </p:sp>
        <p:sp>
          <p:nvSpPr>
            <p:cNvPr id="39" name="任意多边形: 形状 38" descr="dc7aeeb8-f958-43b3-a162-0d58b2cb0d10"/>
            <p:cNvSpPr/>
            <p:nvPr/>
          </p:nvSpPr>
          <p:spPr>
            <a:xfrm>
              <a:off x="0" y="6235700"/>
              <a:ext cx="12192000" cy="622302"/>
            </a:xfrm>
            <a:custGeom>
              <a:avLst/>
              <a:gdLst>
                <a:gd name="connsiteX0" fmla="*/ 6096000 w 12192000"/>
                <a:gd name="connsiteY0" fmla="*/ 0 h 989013"/>
                <a:gd name="connsiteX1" fmla="*/ 11209989 w 12192000"/>
                <a:gd name="connsiteY1" fmla="*/ 146931 h 989013"/>
                <a:gd name="connsiteX2" fmla="*/ 12192000 w 12192000"/>
                <a:gd name="connsiteY2" fmla="*/ 214253 h 989013"/>
                <a:gd name="connsiteX3" fmla="*/ 12192000 w 12192000"/>
                <a:gd name="connsiteY3" fmla="*/ 989013 h 989013"/>
                <a:gd name="connsiteX4" fmla="*/ 0 w 12192000"/>
                <a:gd name="connsiteY4" fmla="*/ 989013 h 989013"/>
                <a:gd name="connsiteX5" fmla="*/ 0 w 12192000"/>
                <a:gd name="connsiteY5" fmla="*/ 214253 h 989013"/>
                <a:gd name="connsiteX6" fmla="*/ 982012 w 12192000"/>
                <a:gd name="connsiteY6" fmla="*/ 146931 h 989013"/>
                <a:gd name="connsiteX7" fmla="*/ 6096000 w 12192000"/>
                <a:gd name="connsiteY7" fmla="*/ 0 h 989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989013">
                  <a:moveTo>
                    <a:pt x="6096000" y="0"/>
                  </a:moveTo>
                  <a:cubicBezTo>
                    <a:pt x="7910010" y="0"/>
                    <a:pt x="9638154" y="52318"/>
                    <a:pt x="11209989" y="146931"/>
                  </a:cubicBezTo>
                  <a:lnTo>
                    <a:pt x="12192000" y="214253"/>
                  </a:lnTo>
                  <a:lnTo>
                    <a:pt x="12192000" y="989013"/>
                  </a:lnTo>
                  <a:lnTo>
                    <a:pt x="0" y="989013"/>
                  </a:lnTo>
                  <a:lnTo>
                    <a:pt x="0" y="214253"/>
                  </a:lnTo>
                  <a:lnTo>
                    <a:pt x="982012" y="146931"/>
                  </a:lnTo>
                  <a:cubicBezTo>
                    <a:pt x="2553847" y="52318"/>
                    <a:pt x="4281991" y="0"/>
                    <a:pt x="6096000" y="0"/>
                  </a:cubicBezTo>
                  <a:close/>
                </a:path>
              </a:pathLst>
            </a:custGeom>
            <a:gradFill flip="none" rotWithShape="1">
              <a:gsLst>
                <a:gs pos="3100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0"/>
              <a:tileRect/>
            </a:gradFill>
            <a:ln w="12700">
              <a:noFill/>
            </a:ln>
            <a:effectLst>
              <a:outerShdw blurRad="127000" dist="63500" dir="2700000" algn="tl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>
              <a:normAutofit/>
            </a:bodyPr>
            <a:lstStyle/>
            <a:p>
              <a:pPr algn="ctr"/>
            </a:p>
          </p:txBody>
        </p: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PowerPoint常用功能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3e329ce-091d-44b2-8737-a6e288a10bc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/>
              </a:rPr>
              <a:t>实用技巧与案例</a:t>
            </a:r>
            <a:endParaRPr lang="en-US" sz="3600" b="1" i="0" u="none">
              <a:solidFill>
                <a:srgbClr val="000000"/>
              </a:solidFill>
              <a:ea typeface="微软雅黑"/>
            </a:endParaRPr>
          </a:p>
        </p:txBody>
      </p:sp>
      <p:sp>
        <p:nvSpPr>
          <p:cNvPr id="3" name="文本占位符 2" descr="e0d58142-c9d1-4304-90e0-38f531746459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/>
              </a:rPr>
              <a:t>分享Office软件中的实用技巧和案例</a:t>
            </a:r>
            <a:endParaRPr lang="en-US" sz="1600" b="0" i="0" u="none">
              <a:solidFill>
                <a:srgbClr val="000000"/>
              </a:solidFill>
              <a:ea typeface="微软雅黑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3a941416-f283-407c-a8b4-ae73fb884568.source.4.zh-Hans.pptx" descr="9036704e-3b63-4bed-90d4-165ca9c084ef"/>
          <p:cNvGrpSpPr/>
          <p:nvPr/>
        </p:nvGrpSpPr>
        <p:grpSpPr>
          <a:xfrm>
            <a:off x="660400" y="1698858"/>
            <a:ext cx="10858500" cy="3779409"/>
            <a:chOff x="660400" y="1698858"/>
            <a:chExt cx="10858500" cy="3779409"/>
          </a:xfrm>
        </p:grpSpPr>
        <p:sp>
          <p:nvSpPr>
            <p:cNvPr id="5" name="Title" descr="fa0c8960-661a-4338-85b0-2a7aa0ea42df"/>
            <p:cNvSpPr txBox="1"/>
            <p:nvPr/>
          </p:nvSpPr>
          <p:spPr>
            <a:xfrm>
              <a:off x="660400" y="2540001"/>
              <a:ext cx="2122958" cy="2184400"/>
            </a:xfrm>
            <a:prstGeom prst="rect">
              <a:avLst/>
            </a:prstGeom>
            <a:noFill/>
          </p:spPr>
          <p:txBody>
            <a:bodyPr wrap="square" anchor="ctr" anchorCtr="0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 kumimoji="0" sz="2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>
                  <a:solidFill>
                    <a:srgbClr val="000000"/>
                  </a:solidFill>
                  <a:ea typeface="微软雅黑"/>
                </a:rPr>
                <a:t>掌握Office中的实用技巧，提高工作效率</a:t>
              </a:r>
              <a:endParaRPr lang="en-US" sz="2400" b="1" i="0" u="none">
                <a:solidFill>
                  <a:srgbClr val="000000"/>
                </a:solidFill>
                <a:ea typeface="微软雅黑"/>
              </a:endParaRPr>
            </a:p>
          </p:txBody>
        </p:sp>
        <p:grpSp>
          <p:nvGrpSpPr>
            <p:cNvPr id="21" name="组合 20" descr="fa2c90f1-c9d5-4138-be2a-8563e87cd5bb"/>
            <p:cNvGrpSpPr/>
            <p:nvPr/>
          </p:nvGrpSpPr>
          <p:grpSpPr>
            <a:xfrm>
              <a:off x="2917399" y="1698858"/>
              <a:ext cx="8601501" cy="647550"/>
              <a:chOff x="2917399" y="1698858"/>
              <a:chExt cx="8601501" cy="647550"/>
            </a:xfrm>
          </p:grpSpPr>
          <p:sp>
            <p:nvSpPr>
              <p:cNvPr id="3" name="Bullet1" descr="e5b41b08-9021-403f-9681-cf4ad2bea680"/>
              <p:cNvSpPr txBox="1"/>
              <p:nvPr/>
            </p:nvSpPr>
            <p:spPr>
              <a:xfrm>
                <a:off x="3747067" y="1698858"/>
                <a:ext cx="2434247" cy="64755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快捷键使用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4" name="Number1" descr="f371ea79-1b90-420e-b8b9-87d7700844e2"/>
              <p:cNvSpPr txBox="1"/>
              <p:nvPr/>
            </p:nvSpPr>
            <p:spPr>
              <a:xfrm>
                <a:off x="3094647" y="1698858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>
                <a:defPPr>
                  <a:defRPr lang="zh-CN"/>
                </a:defPPr>
                <a:lvl1pPr algn="r">
                  <a:defRPr sz="3200" b="1" i="1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r"/>
                <a:r>
                  <a:rPr lang="en-US" sz="3200" b="1" i="0" u="none">
                    <a:latin typeface="Arial" panose="020B0604020202020204"/>
                  </a:rPr>
                  <a:t>01</a:t>
                </a:r>
                <a:endParaRPr lang="en-US" sz="3200" b="1" i="0" u="none">
                  <a:latin typeface="Arial" panose="020B0604020202020204"/>
                </a:endParaRPr>
              </a:p>
            </p:txBody>
          </p:sp>
          <p:sp>
            <p:nvSpPr>
              <p:cNvPr id="12" name="Icon1" descr="65d4955a-6469-460b-b878-e41738ea7bd9"/>
              <p:cNvSpPr/>
              <p:nvPr/>
            </p:nvSpPr>
            <p:spPr bwMode="auto">
              <a:xfrm rot="5400000">
                <a:off x="2904967" y="1908488"/>
                <a:ext cx="190377" cy="165513"/>
              </a:xfrm>
              <a:custGeom>
                <a:avLst/>
                <a:gdLst>
                  <a:gd name="T0" fmla="*/ 146 w 327"/>
                  <a:gd name="T1" fmla="*/ 13 h 283"/>
                  <a:gd name="T2" fmla="*/ 7 w 327"/>
                  <a:gd name="T3" fmla="*/ 253 h 283"/>
                  <a:gd name="T4" fmla="*/ 25 w 327"/>
                  <a:gd name="T5" fmla="*/ 283 h 283"/>
                  <a:gd name="T6" fmla="*/ 302 w 327"/>
                  <a:gd name="T7" fmla="*/ 283 h 283"/>
                  <a:gd name="T8" fmla="*/ 319 w 327"/>
                  <a:gd name="T9" fmla="*/ 253 h 283"/>
                  <a:gd name="T10" fmla="*/ 181 w 327"/>
                  <a:gd name="T11" fmla="*/ 13 h 283"/>
                  <a:gd name="T12" fmla="*/ 146 w 327"/>
                  <a:gd name="T13" fmla="*/ 1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283">
                    <a:moveTo>
                      <a:pt x="146" y="13"/>
                    </a:moveTo>
                    <a:cubicBezTo>
                      <a:pt x="7" y="253"/>
                      <a:pt x="7" y="253"/>
                      <a:pt x="7" y="253"/>
                    </a:cubicBezTo>
                    <a:cubicBezTo>
                      <a:pt x="0" y="267"/>
                      <a:pt x="9" y="283"/>
                      <a:pt x="25" y="283"/>
                    </a:cubicBezTo>
                    <a:cubicBezTo>
                      <a:pt x="302" y="283"/>
                      <a:pt x="302" y="283"/>
                      <a:pt x="302" y="283"/>
                    </a:cubicBezTo>
                    <a:cubicBezTo>
                      <a:pt x="317" y="283"/>
                      <a:pt x="327" y="267"/>
                      <a:pt x="319" y="253"/>
                    </a:cubicBezTo>
                    <a:cubicBezTo>
                      <a:pt x="181" y="13"/>
                      <a:pt x="181" y="13"/>
                      <a:pt x="181" y="13"/>
                    </a:cubicBezTo>
                    <a:cubicBezTo>
                      <a:pt x="173" y="0"/>
                      <a:pt x="154" y="0"/>
                      <a:pt x="146" y="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2">
                      <a:alpha val="50000"/>
                    </a:schemeClr>
                  </a:gs>
                  <a:gs pos="20000">
                    <a:schemeClr val="bg2">
                      <a:lumMod val="90000"/>
                      <a:alpha val="70000"/>
                    </a:schemeClr>
                  </a:gs>
                </a:gsLst>
                <a:lin ang="12000000" scaled="0"/>
              </a:gradFill>
              <a:ln w="76200" cap="rnd">
                <a:noFill/>
                <a:round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7" name="Text1" descr="dd48da11-51fe-4e2a-b618-d4dc30a41977"/>
              <p:cNvSpPr txBox="1"/>
              <p:nvPr/>
            </p:nvSpPr>
            <p:spPr>
              <a:xfrm>
                <a:off x="6274367" y="1698858"/>
                <a:ext cx="5244533" cy="64755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使用快捷键可快速完成操作，如Ctrl+C复制、Ctrl+V粘贴等，能大大提高工作效率。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</p:grpSp>
        <p:grpSp>
          <p:nvGrpSpPr>
            <p:cNvPr id="22" name="组合 21" descr="4b36424c-f336-4aed-a691-0b6fe8ae08fb"/>
            <p:cNvGrpSpPr/>
            <p:nvPr/>
          </p:nvGrpSpPr>
          <p:grpSpPr>
            <a:xfrm>
              <a:off x="2917399" y="2742811"/>
              <a:ext cx="8601501" cy="647550"/>
              <a:chOff x="2917399" y="2742811"/>
              <a:chExt cx="8601501" cy="647550"/>
            </a:xfrm>
          </p:grpSpPr>
          <p:sp>
            <p:nvSpPr>
              <p:cNvPr id="6" name="Bullet2" descr="4ed3c979-4313-4a9c-bb43-9e8f0b66eae0"/>
              <p:cNvSpPr txBox="1"/>
              <p:nvPr/>
            </p:nvSpPr>
            <p:spPr>
              <a:xfrm>
                <a:off x="3747067" y="2742811"/>
                <a:ext cx="2434247" cy="64755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自定义设置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7" name="Number2" descr="e45907f4-23c5-447a-90c5-447c677730fa"/>
              <p:cNvSpPr txBox="1"/>
              <p:nvPr/>
            </p:nvSpPr>
            <p:spPr>
              <a:xfrm>
                <a:off x="3094647" y="2742811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>
                <a:defPPr>
                  <a:defRPr lang="zh-CN"/>
                </a:defPPr>
                <a:lvl1pPr>
                  <a:defRPr sz="3200" b="1" i="1">
                    <a:gradFill>
                      <a:gsLst>
                        <a:gs pos="0">
                          <a:schemeClr val="accent5">
                            <a:lumMod val="60000"/>
                            <a:lumOff val="40000"/>
                          </a:schemeClr>
                        </a:gs>
                        <a:gs pos="60000">
                          <a:schemeClr val="accent5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r"/>
                <a:r>
                  <a:rPr lang="en-US" sz="3200" b="1" i="0" u="none">
                    <a:latin typeface="Arial" panose="020B0604020202020204"/>
                  </a:rPr>
                  <a:t>02</a:t>
                </a:r>
                <a:endParaRPr lang="en-US" sz="3200" b="1" i="0" u="none">
                  <a:latin typeface="Arial" panose="020B0604020202020204"/>
                </a:endParaRPr>
              </a:p>
            </p:txBody>
          </p:sp>
          <p:sp>
            <p:nvSpPr>
              <p:cNvPr id="13" name="Icon2" descr="f5743987-73a8-4a41-979c-61c34f4fa33d"/>
              <p:cNvSpPr/>
              <p:nvPr/>
            </p:nvSpPr>
            <p:spPr bwMode="auto">
              <a:xfrm rot="5400000">
                <a:off x="2904967" y="2954866"/>
                <a:ext cx="190377" cy="165513"/>
              </a:xfrm>
              <a:custGeom>
                <a:avLst/>
                <a:gdLst>
                  <a:gd name="T0" fmla="*/ 146 w 327"/>
                  <a:gd name="T1" fmla="*/ 13 h 283"/>
                  <a:gd name="T2" fmla="*/ 7 w 327"/>
                  <a:gd name="T3" fmla="*/ 253 h 283"/>
                  <a:gd name="T4" fmla="*/ 25 w 327"/>
                  <a:gd name="T5" fmla="*/ 283 h 283"/>
                  <a:gd name="T6" fmla="*/ 302 w 327"/>
                  <a:gd name="T7" fmla="*/ 283 h 283"/>
                  <a:gd name="T8" fmla="*/ 319 w 327"/>
                  <a:gd name="T9" fmla="*/ 253 h 283"/>
                  <a:gd name="T10" fmla="*/ 181 w 327"/>
                  <a:gd name="T11" fmla="*/ 13 h 283"/>
                  <a:gd name="T12" fmla="*/ 146 w 327"/>
                  <a:gd name="T13" fmla="*/ 1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283">
                    <a:moveTo>
                      <a:pt x="146" y="13"/>
                    </a:moveTo>
                    <a:cubicBezTo>
                      <a:pt x="7" y="253"/>
                      <a:pt x="7" y="253"/>
                      <a:pt x="7" y="253"/>
                    </a:cubicBezTo>
                    <a:cubicBezTo>
                      <a:pt x="0" y="267"/>
                      <a:pt x="9" y="283"/>
                      <a:pt x="25" y="283"/>
                    </a:cubicBezTo>
                    <a:cubicBezTo>
                      <a:pt x="302" y="283"/>
                      <a:pt x="302" y="283"/>
                      <a:pt x="302" y="283"/>
                    </a:cubicBezTo>
                    <a:cubicBezTo>
                      <a:pt x="317" y="283"/>
                      <a:pt x="327" y="267"/>
                      <a:pt x="319" y="253"/>
                    </a:cubicBezTo>
                    <a:cubicBezTo>
                      <a:pt x="181" y="13"/>
                      <a:pt x="181" y="13"/>
                      <a:pt x="181" y="13"/>
                    </a:cubicBezTo>
                    <a:cubicBezTo>
                      <a:pt x="173" y="0"/>
                      <a:pt x="154" y="0"/>
                      <a:pt x="146" y="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/>
              <a:p>
                <a:pPr algn="l">
                  <a:lnSpc>
                    <a:spcPct val="120000"/>
                  </a:lnSpc>
                </a:pPr>
              </a:p>
            </p:txBody>
          </p:sp>
          <p:sp>
            <p:nvSpPr>
              <p:cNvPr id="18" name="Text2" descr="a871355a-40b7-44e6-af89-5f746e42d943"/>
              <p:cNvSpPr txBox="1"/>
              <p:nvPr/>
            </p:nvSpPr>
            <p:spPr>
              <a:xfrm>
                <a:off x="6274367" y="2742811"/>
                <a:ext cx="5244533" cy="64755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可根据个人习惯自定义工具栏、快捷键等设置，让软件更符合自己的使用习惯。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</p:grpSp>
        <p:grpSp>
          <p:nvGrpSpPr>
            <p:cNvPr id="23" name="组合 22" descr="3b734693-1a6d-4933-94f8-c93e674f3399"/>
            <p:cNvGrpSpPr/>
            <p:nvPr/>
          </p:nvGrpSpPr>
          <p:grpSpPr>
            <a:xfrm>
              <a:off x="2917399" y="3786764"/>
              <a:ext cx="8601501" cy="647550"/>
              <a:chOff x="2917399" y="3786764"/>
              <a:chExt cx="8601501" cy="647550"/>
            </a:xfrm>
          </p:grpSpPr>
          <p:sp>
            <p:nvSpPr>
              <p:cNvPr id="8" name="Bullet3" descr="ce409bb7-77d3-4c56-a907-1abfb292dfd1"/>
              <p:cNvSpPr txBox="1"/>
              <p:nvPr/>
            </p:nvSpPr>
            <p:spPr>
              <a:xfrm>
                <a:off x="3747067" y="3786764"/>
                <a:ext cx="2434247" cy="64755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模板应用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9" name="Number3" descr="6a3dc931-74fa-4b80-af1f-c26875e5769f"/>
              <p:cNvSpPr txBox="1"/>
              <p:nvPr/>
            </p:nvSpPr>
            <p:spPr>
              <a:xfrm>
                <a:off x="3094647" y="3786764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>
                <a:defPPr>
                  <a:defRPr lang="zh-CN"/>
                </a:defPPr>
                <a:lvl1pPr algn="r">
                  <a:defRPr sz="3200" b="1" i="1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r"/>
                <a:r>
                  <a:rPr lang="en-US" sz="3200" b="1" i="0" u="none">
                    <a:latin typeface="Arial" panose="020B0604020202020204"/>
                  </a:rPr>
                  <a:t>03</a:t>
                </a:r>
                <a:endParaRPr lang="en-US" sz="3200" b="1" i="0" u="none">
                  <a:latin typeface="Arial" panose="020B0604020202020204"/>
                </a:endParaRPr>
              </a:p>
            </p:txBody>
          </p:sp>
          <p:sp>
            <p:nvSpPr>
              <p:cNvPr id="14" name="Icon3" descr="01014166-32b4-4b5f-b732-c15377ef8664"/>
              <p:cNvSpPr/>
              <p:nvPr/>
            </p:nvSpPr>
            <p:spPr bwMode="auto">
              <a:xfrm rot="5400000">
                <a:off x="2904967" y="3996394"/>
                <a:ext cx="190377" cy="165513"/>
              </a:xfrm>
              <a:custGeom>
                <a:avLst/>
                <a:gdLst>
                  <a:gd name="T0" fmla="*/ 146 w 327"/>
                  <a:gd name="T1" fmla="*/ 13 h 283"/>
                  <a:gd name="T2" fmla="*/ 7 w 327"/>
                  <a:gd name="T3" fmla="*/ 253 h 283"/>
                  <a:gd name="T4" fmla="*/ 25 w 327"/>
                  <a:gd name="T5" fmla="*/ 283 h 283"/>
                  <a:gd name="T6" fmla="*/ 302 w 327"/>
                  <a:gd name="T7" fmla="*/ 283 h 283"/>
                  <a:gd name="T8" fmla="*/ 319 w 327"/>
                  <a:gd name="T9" fmla="*/ 253 h 283"/>
                  <a:gd name="T10" fmla="*/ 181 w 327"/>
                  <a:gd name="T11" fmla="*/ 13 h 283"/>
                  <a:gd name="T12" fmla="*/ 146 w 327"/>
                  <a:gd name="T13" fmla="*/ 1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283">
                    <a:moveTo>
                      <a:pt x="146" y="13"/>
                    </a:moveTo>
                    <a:cubicBezTo>
                      <a:pt x="7" y="253"/>
                      <a:pt x="7" y="253"/>
                      <a:pt x="7" y="253"/>
                    </a:cubicBezTo>
                    <a:cubicBezTo>
                      <a:pt x="0" y="267"/>
                      <a:pt x="9" y="283"/>
                      <a:pt x="25" y="283"/>
                    </a:cubicBezTo>
                    <a:cubicBezTo>
                      <a:pt x="302" y="283"/>
                      <a:pt x="302" y="283"/>
                      <a:pt x="302" y="283"/>
                    </a:cubicBezTo>
                    <a:cubicBezTo>
                      <a:pt x="317" y="283"/>
                      <a:pt x="327" y="267"/>
                      <a:pt x="319" y="253"/>
                    </a:cubicBezTo>
                    <a:cubicBezTo>
                      <a:pt x="181" y="13"/>
                      <a:pt x="181" y="13"/>
                      <a:pt x="181" y="13"/>
                    </a:cubicBezTo>
                    <a:cubicBezTo>
                      <a:pt x="173" y="0"/>
                      <a:pt x="154" y="0"/>
                      <a:pt x="146" y="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2">
                      <a:alpha val="50000"/>
                    </a:schemeClr>
                  </a:gs>
                  <a:gs pos="20000">
                    <a:schemeClr val="bg2">
                      <a:lumMod val="90000"/>
                      <a:alpha val="70000"/>
                    </a:schemeClr>
                  </a:gs>
                </a:gsLst>
                <a:lin ang="12000000" scaled="0"/>
              </a:gradFill>
              <a:ln w="76200" cap="rnd">
                <a:noFill/>
                <a:round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9" name="Text3" descr="94101837-a1d1-420c-8778-4513f659af39"/>
              <p:cNvSpPr txBox="1"/>
              <p:nvPr/>
            </p:nvSpPr>
            <p:spPr>
              <a:xfrm>
                <a:off x="6274367" y="3786764"/>
                <a:ext cx="5244533" cy="64755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利用Office提供的模板，可快速创建符合要求的文档、表格和幻灯片，节省制作时间。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</p:grpSp>
        <p:grpSp>
          <p:nvGrpSpPr>
            <p:cNvPr id="24" name="组合 23" descr="0e160410-d084-4987-81b0-11e5b6a68e7a"/>
            <p:cNvGrpSpPr/>
            <p:nvPr/>
          </p:nvGrpSpPr>
          <p:grpSpPr>
            <a:xfrm>
              <a:off x="2917399" y="4830717"/>
              <a:ext cx="8601501" cy="647550"/>
              <a:chOff x="2917399" y="4830717"/>
              <a:chExt cx="8601501" cy="647550"/>
            </a:xfrm>
          </p:grpSpPr>
          <p:sp>
            <p:nvSpPr>
              <p:cNvPr id="10" name="Bullet4" descr="ee714d32-bd46-4a73-b9d7-3abdc5b0efcd"/>
              <p:cNvSpPr txBox="1"/>
              <p:nvPr/>
            </p:nvSpPr>
            <p:spPr>
              <a:xfrm>
                <a:off x="3747067" y="4830717"/>
                <a:ext cx="2434247" cy="64755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/>
                  </a:rPr>
                  <a:t>云协作</a:t>
                </a:r>
                <a:endParaRPr lang="en-US" sz="1800" b="1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11" name="Number4" descr="c0fd7b8b-b0eb-48af-9209-6eee8ba7d90c"/>
              <p:cNvSpPr txBox="1"/>
              <p:nvPr/>
            </p:nvSpPr>
            <p:spPr>
              <a:xfrm>
                <a:off x="3094647" y="4830717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 anchorCtr="0">
                <a:spAutoFit/>
              </a:bodyPr>
              <a:lstStyle>
                <a:defPPr>
                  <a:defRPr lang="zh-CN"/>
                </a:defPPr>
                <a:lvl1pPr>
                  <a:defRPr sz="3200" b="1" i="1">
                    <a:gradFill>
                      <a:gsLst>
                        <a:gs pos="0">
                          <a:schemeClr val="accent6">
                            <a:lumMod val="60000"/>
                            <a:lumOff val="40000"/>
                          </a:schemeClr>
                        </a:gs>
                        <a:gs pos="60000">
                          <a:schemeClr val="accent6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r"/>
                <a:r>
                  <a:rPr lang="en-US" sz="3200" b="1" i="0" u="none">
                    <a:latin typeface="Arial" panose="020B0604020202020204"/>
                  </a:rPr>
                  <a:t>04</a:t>
                </a:r>
                <a:endParaRPr lang="en-US" sz="3200" b="1" i="0" u="none">
                  <a:latin typeface="Arial" panose="020B0604020202020204"/>
                </a:endParaRPr>
              </a:p>
            </p:txBody>
          </p:sp>
          <p:sp>
            <p:nvSpPr>
              <p:cNvPr id="15" name="Icon4" descr="809ad27b-fe77-4dbc-b6ed-809f8e94fea9"/>
              <p:cNvSpPr/>
              <p:nvPr/>
            </p:nvSpPr>
            <p:spPr bwMode="auto">
              <a:xfrm rot="5400000">
                <a:off x="2904967" y="5037922"/>
                <a:ext cx="190377" cy="165513"/>
              </a:xfrm>
              <a:custGeom>
                <a:avLst/>
                <a:gdLst>
                  <a:gd name="T0" fmla="*/ 146 w 327"/>
                  <a:gd name="T1" fmla="*/ 13 h 283"/>
                  <a:gd name="T2" fmla="*/ 7 w 327"/>
                  <a:gd name="T3" fmla="*/ 253 h 283"/>
                  <a:gd name="T4" fmla="*/ 25 w 327"/>
                  <a:gd name="T5" fmla="*/ 283 h 283"/>
                  <a:gd name="T6" fmla="*/ 302 w 327"/>
                  <a:gd name="T7" fmla="*/ 283 h 283"/>
                  <a:gd name="T8" fmla="*/ 319 w 327"/>
                  <a:gd name="T9" fmla="*/ 253 h 283"/>
                  <a:gd name="T10" fmla="*/ 181 w 327"/>
                  <a:gd name="T11" fmla="*/ 13 h 283"/>
                  <a:gd name="T12" fmla="*/ 146 w 327"/>
                  <a:gd name="T13" fmla="*/ 1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7" h="283">
                    <a:moveTo>
                      <a:pt x="146" y="13"/>
                    </a:moveTo>
                    <a:cubicBezTo>
                      <a:pt x="7" y="253"/>
                      <a:pt x="7" y="253"/>
                      <a:pt x="7" y="253"/>
                    </a:cubicBezTo>
                    <a:cubicBezTo>
                      <a:pt x="0" y="267"/>
                      <a:pt x="9" y="283"/>
                      <a:pt x="25" y="283"/>
                    </a:cubicBezTo>
                    <a:cubicBezTo>
                      <a:pt x="302" y="283"/>
                      <a:pt x="302" y="283"/>
                      <a:pt x="302" y="283"/>
                    </a:cubicBezTo>
                    <a:cubicBezTo>
                      <a:pt x="317" y="283"/>
                      <a:pt x="327" y="267"/>
                      <a:pt x="319" y="253"/>
                    </a:cubicBezTo>
                    <a:cubicBezTo>
                      <a:pt x="181" y="13"/>
                      <a:pt x="181" y="13"/>
                      <a:pt x="181" y="13"/>
                    </a:cubicBezTo>
                    <a:cubicBezTo>
                      <a:pt x="173" y="0"/>
                      <a:pt x="154" y="0"/>
                      <a:pt x="146" y="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2">
                      <a:alpha val="50000"/>
                    </a:schemeClr>
                  </a:gs>
                  <a:gs pos="20000">
                    <a:schemeClr val="bg2">
                      <a:lumMod val="90000"/>
                      <a:alpha val="70000"/>
                    </a:schemeClr>
                  </a:gs>
                </a:gsLst>
                <a:lin ang="12000000" scaled="0"/>
              </a:gradFill>
              <a:ln w="76200" cap="rnd">
                <a:noFill/>
                <a:round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0" name="Text4" descr="d3d9a701-2f7e-4e63-8bc8-aa2475681925"/>
              <p:cNvSpPr txBox="1"/>
              <p:nvPr/>
            </p:nvSpPr>
            <p:spPr>
              <a:xfrm>
                <a:off x="6274367" y="4830717"/>
                <a:ext cx="5244533" cy="64755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通过云协作功能，可多人同时编辑同一文档，方便团队协作，提高工作效率。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实用技巧分享</a:t>
            </a:r>
            <a:endParaRPr lang="en-US" sz="2800" b="1" i="0" u="none">
              <a:solidFill>
                <a:srgbClr val="000000"/>
              </a:solidFill>
              <a:ea typeface="微软雅黑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4e32ad23-715b-4039-ab6b-4f0f987c817e.source.3.zh-Hans.pptx" descr="6927c742-9bd5-458b-8df2-2a7cf23ea559"/>
          <p:cNvGrpSpPr/>
          <p:nvPr/>
        </p:nvGrpSpPr>
        <p:grpSpPr>
          <a:xfrm>
            <a:off x="657372" y="1130299"/>
            <a:ext cx="10861528" cy="4241801"/>
            <a:chOff x="657372" y="1130299"/>
            <a:chExt cx="10861528" cy="4241801"/>
          </a:xfrm>
        </p:grpSpPr>
        <p:sp>
          <p:nvSpPr>
            <p:cNvPr id="204" name="Title" descr="985d3158-3925-4f27-89fa-141cf2e96fa8"/>
            <p:cNvSpPr/>
            <p:nvPr/>
          </p:nvSpPr>
          <p:spPr>
            <a:xfrm>
              <a:off x="660400" y="1130299"/>
              <a:ext cx="10858500" cy="1098551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4D5991"/>
                  </a:solidFill>
                  <a:ea typeface="微软雅黑"/>
                </a:rPr>
                <a:t>通过案例了解Office软件在实际工作中的应用</a:t>
              </a:r>
              <a:endParaRPr lang="en-US" sz="2400" b="1" i="0" u="none">
                <a:solidFill>
                  <a:srgbClr val="4D5991"/>
                </a:solidFill>
                <a:ea typeface="微软雅黑"/>
              </a:endParaRPr>
            </a:p>
          </p:txBody>
        </p:sp>
        <p:grpSp>
          <p:nvGrpSpPr>
            <p:cNvPr id="19" name="组合 18" descr="57b4b296-4e8d-4827-b23e-5ce4c195ece5"/>
            <p:cNvGrpSpPr/>
            <p:nvPr/>
          </p:nvGrpSpPr>
          <p:grpSpPr>
            <a:xfrm>
              <a:off x="657372" y="2934353"/>
              <a:ext cx="3037061" cy="2437747"/>
              <a:chOff x="657372" y="2934353"/>
              <a:chExt cx="3037061" cy="2437747"/>
            </a:xfrm>
          </p:grpSpPr>
          <p:sp>
            <p:nvSpPr>
              <p:cNvPr id="23" name="Text1" descr="cdb8479e-3a09-4ec4-8ea1-69d0caa67f14"/>
              <p:cNvSpPr txBox="1"/>
              <p:nvPr/>
            </p:nvSpPr>
            <p:spPr>
              <a:xfrm>
                <a:off x="1487406" y="3555615"/>
                <a:ext cx="2207026" cy="181648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使用Word排版报告内容，Excel进行数据分析，PowerPoint展示分析结果，完成一份专业的商务报告。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24" name="Bullet1" descr="961a84f2-1255-4e04-939d-173aa4b17bea"/>
              <p:cNvSpPr txBox="1"/>
              <p:nvPr/>
            </p:nvSpPr>
            <p:spPr>
              <a:xfrm>
                <a:off x="1487407" y="2934353"/>
                <a:ext cx="2207026" cy="56211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l"/>
                <a:r>
                  <a:rPr lang="en-US" sz="1800" b="1" i="0" u="sng">
                    <a:solidFill>
                      <a:srgbClr val="4D5991"/>
                    </a:solidFill>
                    <a:ea typeface="微软雅黑"/>
                  </a:rPr>
                  <a:t>商务报告制作</a:t>
                </a:r>
                <a:endParaRPr lang="en-US" sz="1800" b="1" i="0" u="sng">
                  <a:solidFill>
                    <a:srgbClr val="4D5991"/>
                  </a:solidFill>
                  <a:ea typeface="微软雅黑"/>
                </a:endParaRPr>
              </a:p>
            </p:txBody>
          </p:sp>
          <p:sp>
            <p:nvSpPr>
              <p:cNvPr id="25" name="Number1" descr="f499b535-91a2-468d-88f7-f44093a22b92"/>
              <p:cNvSpPr/>
              <p:nvPr/>
            </p:nvSpPr>
            <p:spPr>
              <a:xfrm>
                <a:off x="657372" y="3124951"/>
                <a:ext cx="745978" cy="562111"/>
              </a:xfrm>
              <a:prstGeom prst="rect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l"/>
                <a:r>
                  <a:rPr lang="en-US" sz="32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3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1" name="组合 20" descr="4ab07358-a6cf-4052-8b66-35b1cd12e6ff"/>
            <p:cNvGrpSpPr/>
            <p:nvPr/>
          </p:nvGrpSpPr>
          <p:grpSpPr>
            <a:xfrm>
              <a:off x="4191782" y="2922924"/>
              <a:ext cx="3037061" cy="2437747"/>
              <a:chOff x="4191782" y="2922924"/>
              <a:chExt cx="3037061" cy="2437747"/>
            </a:xfrm>
          </p:grpSpPr>
          <p:sp>
            <p:nvSpPr>
              <p:cNvPr id="12" name="Text2" descr="fe752d79-3685-4f36-8294-c8e5c7d0acf7"/>
              <p:cNvSpPr txBox="1"/>
              <p:nvPr/>
            </p:nvSpPr>
            <p:spPr>
              <a:xfrm>
                <a:off x="5021816" y="3544186"/>
                <a:ext cx="2207026" cy="181648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在Excel中录入财务数据，使用公式进行计算，制作图表分析财务状况，为决策提供依据。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13" name="Bullet2" descr="f582c2aa-dfb0-4b33-9cb4-94c648f4c6ac"/>
              <p:cNvSpPr txBox="1"/>
              <p:nvPr/>
            </p:nvSpPr>
            <p:spPr>
              <a:xfrm>
                <a:off x="5021817" y="2922924"/>
                <a:ext cx="2207026" cy="56211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l"/>
                <a:r>
                  <a:rPr lang="en-US" sz="1800" b="1" i="0" u="sng">
                    <a:solidFill>
                      <a:srgbClr val="4D5991"/>
                    </a:solidFill>
                    <a:ea typeface="微软雅黑"/>
                  </a:rPr>
                  <a:t>财务报表分析</a:t>
                </a:r>
                <a:endParaRPr lang="en-US" sz="1800" b="1" i="0" u="sng">
                  <a:solidFill>
                    <a:srgbClr val="4D5991"/>
                  </a:solidFill>
                  <a:ea typeface="微软雅黑"/>
                </a:endParaRPr>
              </a:p>
            </p:txBody>
          </p:sp>
          <p:sp>
            <p:nvSpPr>
              <p:cNvPr id="14" name="Number2" descr="bf6eb20c-0d70-414a-8699-66648c33600c"/>
              <p:cNvSpPr/>
              <p:nvPr/>
            </p:nvSpPr>
            <p:spPr>
              <a:xfrm>
                <a:off x="4191782" y="3113522"/>
                <a:ext cx="745978" cy="562111"/>
              </a:xfrm>
              <a:prstGeom prst="rect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l"/>
                <a:r>
                  <a:rPr lang="en-US" sz="32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3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2" name="组合 21" descr="8a126d9c-1e7d-4eff-b933-fc9c87b2b711"/>
            <p:cNvGrpSpPr/>
            <p:nvPr/>
          </p:nvGrpSpPr>
          <p:grpSpPr>
            <a:xfrm>
              <a:off x="8095761" y="2922924"/>
              <a:ext cx="3037061" cy="2437747"/>
              <a:chOff x="8095761" y="2922924"/>
              <a:chExt cx="3037061" cy="2437747"/>
            </a:xfrm>
          </p:grpSpPr>
          <p:sp>
            <p:nvSpPr>
              <p:cNvPr id="16" name="Text3" descr="7f6355a5-18e5-402d-bccb-cad14c06ee6d"/>
              <p:cNvSpPr txBox="1"/>
              <p:nvPr/>
            </p:nvSpPr>
            <p:spPr>
              <a:xfrm>
                <a:off x="8925795" y="3544186"/>
                <a:ext cx="2207026" cy="181648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/>
                  </a:rPr>
                  <a:t>利用PowerPoint制作产品展示幻灯片，展示产品特点、优势和应用场景，吸引客户关注。</a:t>
                </a:r>
                <a:endParaRPr lang="en-US" sz="1200" b="0" i="0" u="none">
                  <a:solidFill>
                    <a:srgbClr val="000000"/>
                  </a:solidFill>
                  <a:ea typeface="微软雅黑"/>
                </a:endParaRPr>
              </a:p>
            </p:txBody>
          </p:sp>
          <p:sp>
            <p:nvSpPr>
              <p:cNvPr id="17" name="Bullet3" descr="8d652082-b2c9-44b6-a72a-c8ad1a39e110"/>
              <p:cNvSpPr txBox="1"/>
              <p:nvPr/>
            </p:nvSpPr>
            <p:spPr>
              <a:xfrm>
                <a:off x="8925796" y="2922924"/>
                <a:ext cx="2207026" cy="56211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pPr algn="l"/>
                <a:r>
                  <a:rPr lang="en-US" sz="1800" b="1" i="0" u="sng">
                    <a:solidFill>
                      <a:srgbClr val="4D5991"/>
                    </a:solidFill>
                    <a:ea typeface="微软雅黑"/>
                  </a:rPr>
                  <a:t>产品展示PPT</a:t>
                </a:r>
                <a:endParaRPr lang="en-US" sz="1800" b="1" i="0" u="sng">
                  <a:solidFill>
                    <a:srgbClr val="4D5991"/>
                  </a:solidFill>
                  <a:ea typeface="微软雅黑"/>
                </a:endParaRPr>
              </a:p>
            </p:txBody>
          </p:sp>
          <p:sp>
            <p:nvSpPr>
              <p:cNvPr id="18" name="Number3" descr="fae51c96-63db-4560-92e9-0f2426ed315b"/>
              <p:cNvSpPr/>
              <p:nvPr/>
            </p:nvSpPr>
            <p:spPr>
              <a:xfrm>
                <a:off x="8095761" y="3113522"/>
                <a:ext cx="745978" cy="562111"/>
              </a:xfrm>
              <a:prstGeom prst="rect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l"/>
                <a:r>
                  <a:rPr lang="en-US" sz="32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32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6c044a9f-4d98-482e-9f59-e0cb2def000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/>
              </a:rPr>
              <a:t>案例展示</a:t>
            </a:r>
            <a:endParaRPr lang="en-US" sz="2800" b="1" i="0" u="none">
              <a:solidFill>
                <a:srgbClr val="000000"/>
              </a:solidFill>
              <a:ea typeface="微软雅黑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fd783f1-a84a-4d0d-a428-c25604795c8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ea typeface="微软雅黑"/>
              </a:rPr>
              <a:t>谢谢观看</a:t>
            </a:r>
            <a:endParaRPr lang="en-US" sz="4800" b="1" i="0" u="none">
              <a:solidFill>
                <a:srgbClr val="000000"/>
              </a:solidFill>
              <a:ea typeface="微软雅黑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10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D5991"/>
      </a:accent1>
      <a:accent2>
        <a:srgbClr val="28A7B8"/>
      </a:accent2>
      <a:accent3>
        <a:srgbClr val="A1887F"/>
      </a:accent3>
      <a:accent4>
        <a:srgbClr val="BE6E55"/>
      </a:accent4>
      <a:accent5>
        <a:srgbClr val="313E77"/>
      </a:accent5>
      <a:accent6>
        <a:srgbClr val="148A99"/>
      </a:accent6>
      <a:hlink>
        <a:srgbClr val="2DBE60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1772</Words>
  <Application>WPS Office WWO_wpscloud_20260107185241-030cc62549</Application>
  <PresentationFormat>宽屏</PresentationFormat>
  <Paragraphs>248</Paragraphs>
  <Slides>13</Slides>
  <Notes>7</Notes>
  <HiddenSlides>7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汉仪旗黑KW 55S</vt:lpstr>
      <vt:lpstr>汉仪书宋二KW</vt:lpstr>
      <vt:lpstr>Kingsoft Confetti</vt:lpstr>
      <vt:lpstr>Designed by iSlide</vt:lpstr>
      <vt:lpstr>Office教程</vt:lpstr>
      <vt:lpstr>目录</vt:lpstr>
      <vt:lpstr>Office基础入门</vt:lpstr>
      <vt:lpstr>Office软件介绍</vt:lpstr>
      <vt:lpstr>操作界面认知</vt:lpstr>
      <vt:lpstr>常用功能操作</vt:lpstr>
      <vt:lpstr>Word常用功能</vt:lpstr>
      <vt:lpstr>Excel常用功能</vt:lpstr>
      <vt:lpstr>PowerPoint常用功能</vt:lpstr>
      <vt:lpstr>实用技巧与案例</vt:lpstr>
      <vt:lpstr>实用技巧分享</vt:lpstr>
      <vt:lpstr>案例展示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Office教程</dc:title>
  <dc:creator>iSlide</dc:creator>
  <cp:lastModifiedBy>iSlide</cp:lastModifiedBy>
  <cp:lastPrinted>2026-01-09T17:22:20Z</cp:lastPrinted>
  <dcterms:created xsi:type="dcterms:W3CDTF">2026-01-09T17:22:20Z</dcterms:created>
  <dcterms:modified xsi:type="dcterms:W3CDTF">2026-01-09T17:22:20Z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0a0474d4-a42b-4fe5-8e34-e335e7082ff9</vt:lpwstr>
  </property>
  <property fmtid="{D5CDD505-2E9C-101B-9397-08002B2CF9AE}" pid="3" name="ICV">
    <vt:lpwstr>B153277A809C813D94DF5B69169B1186_42</vt:lpwstr>
  </property>
  <property fmtid="{D5CDD505-2E9C-101B-9397-08002B2CF9AE}" pid="4" name="KSOProductBuildVer">
    <vt:lpwstr>2052-12.9.0.24776</vt:lpwstr>
  </property>
</Properties>
</file>